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56" r:id="rId2"/>
    <p:sldId id="281" r:id="rId3"/>
    <p:sldId id="261" r:id="rId4"/>
    <p:sldId id="258" r:id="rId5"/>
    <p:sldId id="260" r:id="rId6"/>
    <p:sldId id="262" r:id="rId7"/>
    <p:sldId id="263" r:id="rId8"/>
    <p:sldId id="264" r:id="rId9"/>
    <p:sldId id="268" r:id="rId10"/>
    <p:sldId id="269" r:id="rId11"/>
    <p:sldId id="272" r:id="rId12"/>
    <p:sldId id="273" r:id="rId13"/>
    <p:sldId id="274" r:id="rId14"/>
    <p:sldId id="275" r:id="rId15"/>
    <p:sldId id="277" r:id="rId16"/>
    <p:sldId id="286" r:id="rId17"/>
    <p:sldId id="287" r:id="rId18"/>
    <p:sldId id="289" r:id="rId19"/>
    <p:sldId id="290" r:id="rId20"/>
    <p:sldId id="291" r:id="rId21"/>
    <p:sldId id="292" r:id="rId22"/>
    <p:sldId id="293" r:id="rId23"/>
    <p:sldId id="294" r:id="rId24"/>
    <p:sldId id="295" r:id="rId25"/>
    <p:sldId id="296" r:id="rId26"/>
    <p:sldId id="297" r:id="rId27"/>
    <p:sldId id="298" r:id="rId28"/>
    <p:sldId id="300" r:id="rId29"/>
    <p:sldId id="301" r:id="rId30"/>
    <p:sldId id="302"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p:cViewPr varScale="1">
        <p:scale>
          <a:sx n="59" d="100"/>
          <a:sy n="59" d="100"/>
        </p:scale>
        <p:origin x="836" y="5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ul A" userId="7494e7589cd4e75c" providerId="LiveId" clId="{A0AA2BA2-9D6B-4780-90DA-DC9178AF49C4}"/>
    <pc:docChg chg="undo custSel delSld modSld">
      <pc:chgData name="Mehul A" userId="7494e7589cd4e75c" providerId="LiveId" clId="{A0AA2BA2-9D6B-4780-90DA-DC9178AF49C4}" dt="2024-12-11T18:32:08.596" v="86" actId="47"/>
      <pc:docMkLst>
        <pc:docMk/>
      </pc:docMkLst>
      <pc:sldChg chg="del">
        <pc:chgData name="Mehul A" userId="7494e7589cd4e75c" providerId="LiveId" clId="{A0AA2BA2-9D6B-4780-90DA-DC9178AF49C4}" dt="2024-12-11T17:37:44.023" v="22" actId="47"/>
        <pc:sldMkLst>
          <pc:docMk/>
          <pc:sldMk cId="1772969468" sldId="257"/>
        </pc:sldMkLst>
      </pc:sldChg>
      <pc:sldChg chg="del">
        <pc:chgData name="Mehul A" userId="7494e7589cd4e75c" providerId="LiveId" clId="{A0AA2BA2-9D6B-4780-90DA-DC9178AF49C4}" dt="2024-12-11T17:38:33.746" v="23" actId="47"/>
        <pc:sldMkLst>
          <pc:docMk/>
          <pc:sldMk cId="3948826341" sldId="259"/>
        </pc:sldMkLst>
      </pc:sldChg>
      <pc:sldChg chg="modSp mod">
        <pc:chgData name="Mehul A" userId="7494e7589cd4e75c" providerId="LiveId" clId="{A0AA2BA2-9D6B-4780-90DA-DC9178AF49C4}" dt="2024-12-11T17:37:33.652" v="21" actId="20577"/>
        <pc:sldMkLst>
          <pc:docMk/>
          <pc:sldMk cId="3537718460" sldId="261"/>
        </pc:sldMkLst>
        <pc:spChg chg="mod">
          <ac:chgData name="Mehul A" userId="7494e7589cd4e75c" providerId="LiveId" clId="{A0AA2BA2-9D6B-4780-90DA-DC9178AF49C4}" dt="2024-12-11T17:37:33.652" v="21" actId="20577"/>
          <ac:spMkLst>
            <pc:docMk/>
            <pc:sldMk cId="3537718460" sldId="261"/>
            <ac:spMk id="2" creationId="{00000000-0000-0000-0000-000000000000}"/>
          </ac:spMkLst>
        </pc:spChg>
      </pc:sldChg>
      <pc:sldChg chg="del">
        <pc:chgData name="Mehul A" userId="7494e7589cd4e75c" providerId="LiveId" clId="{A0AA2BA2-9D6B-4780-90DA-DC9178AF49C4}" dt="2024-12-11T18:30:42.735" v="85" actId="47"/>
        <pc:sldMkLst>
          <pc:docMk/>
          <pc:sldMk cId="359926053" sldId="279"/>
        </pc:sldMkLst>
      </pc:sldChg>
      <pc:sldChg chg="del">
        <pc:chgData name="Mehul A" userId="7494e7589cd4e75c" providerId="LiveId" clId="{A0AA2BA2-9D6B-4780-90DA-DC9178AF49C4}" dt="2024-12-11T18:16:40.666" v="24" actId="47"/>
        <pc:sldMkLst>
          <pc:docMk/>
          <pc:sldMk cId="703323859" sldId="283"/>
        </pc:sldMkLst>
      </pc:sldChg>
      <pc:sldChg chg="del">
        <pc:chgData name="Mehul A" userId="7494e7589cd4e75c" providerId="LiveId" clId="{A0AA2BA2-9D6B-4780-90DA-DC9178AF49C4}" dt="2024-12-11T18:16:42.926" v="25" actId="47"/>
        <pc:sldMkLst>
          <pc:docMk/>
          <pc:sldMk cId="2076314224" sldId="284"/>
        </pc:sldMkLst>
      </pc:sldChg>
      <pc:sldChg chg="del">
        <pc:chgData name="Mehul A" userId="7494e7589cd4e75c" providerId="LiveId" clId="{A0AA2BA2-9D6B-4780-90DA-DC9178AF49C4}" dt="2024-12-11T18:16:48.128" v="26" actId="47"/>
        <pc:sldMkLst>
          <pc:docMk/>
          <pc:sldMk cId="3178119041" sldId="285"/>
        </pc:sldMkLst>
      </pc:sldChg>
      <pc:sldChg chg="modSp mod">
        <pc:chgData name="Mehul A" userId="7494e7589cd4e75c" providerId="LiveId" clId="{A0AA2BA2-9D6B-4780-90DA-DC9178AF49C4}" dt="2024-12-11T18:17:58.929" v="84" actId="20577"/>
        <pc:sldMkLst>
          <pc:docMk/>
          <pc:sldMk cId="343469678" sldId="286"/>
        </pc:sldMkLst>
        <pc:spChg chg="mod">
          <ac:chgData name="Mehul A" userId="7494e7589cd4e75c" providerId="LiveId" clId="{A0AA2BA2-9D6B-4780-90DA-DC9178AF49C4}" dt="2024-12-11T18:17:58.929" v="84" actId="20577"/>
          <ac:spMkLst>
            <pc:docMk/>
            <pc:sldMk cId="343469678" sldId="286"/>
            <ac:spMk id="3" creationId="{7E18D222-37BE-B59F-D451-B0CCBA2F2211}"/>
          </ac:spMkLst>
        </pc:spChg>
      </pc:sldChg>
      <pc:sldChg chg="del">
        <pc:chgData name="Mehul A" userId="7494e7589cd4e75c" providerId="LiveId" clId="{A0AA2BA2-9D6B-4780-90DA-DC9178AF49C4}" dt="2024-12-11T18:32:08.596" v="86" actId="47"/>
        <pc:sldMkLst>
          <pc:docMk/>
          <pc:sldMk cId="3683470840" sldId="29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6/10/2026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6/10/2026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6/10/2026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6/10/2026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6/10/2026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6/10/2026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6/10/2026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6/10/2026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bin"/><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0" i="0" dirty="0">
                <a:effectLst>
                  <a:outerShdw blurRad="38100" dist="38100" dir="2700000" algn="tl">
                    <a:srgbClr val="000000">
                      <a:alpha val="43137"/>
                    </a:srgbClr>
                  </a:outerShdw>
                </a:effectLst>
                <a:latin typeface="Roboto" panose="02000000000000000000" pitchFamily="2" charset="0"/>
              </a:rPr>
              <a:t>Heart Disease Prediction System</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A1406-60FC-38A2-70DD-E54F7CFE5870}"/>
              </a:ext>
            </a:extLst>
          </p:cNvPr>
          <p:cNvSpPr>
            <a:spLocks noGrp="1"/>
          </p:cNvSpPr>
          <p:nvPr>
            <p:ph type="title"/>
          </p:nvPr>
        </p:nvSpPr>
        <p:spPr/>
        <p:txBody>
          <a:bodyPr>
            <a:normAutofit/>
          </a:bodyPr>
          <a:lstStyle/>
          <a:p>
            <a:r>
              <a:rPr lang="en-US" b="0" i="0" dirty="0">
                <a:solidFill>
                  <a:srgbClr val="E3E3E3"/>
                </a:solidFill>
                <a:effectLst/>
                <a:latin typeface="Roboto" panose="02000000000000000000" pitchFamily="2" charset="0"/>
              </a:rPr>
              <a:t>Literature Review: Heart Disease Prediction System using Machine Learning</a:t>
            </a:r>
            <a:endParaRPr lang="en-US" dirty="0"/>
          </a:p>
        </p:txBody>
      </p:sp>
      <p:sp>
        <p:nvSpPr>
          <p:cNvPr id="3" name="Content Placeholder 2">
            <a:extLst>
              <a:ext uri="{FF2B5EF4-FFF2-40B4-BE49-F238E27FC236}">
                <a16:creationId xmlns:a16="http://schemas.microsoft.com/office/drawing/2014/main" id="{CA5B5227-FCEE-F8BA-4FD0-AA6FA8A133E1}"/>
              </a:ext>
            </a:extLst>
          </p:cNvPr>
          <p:cNvSpPr>
            <a:spLocks noGrp="1"/>
          </p:cNvSpPr>
          <p:nvPr>
            <p:ph idx="1"/>
          </p:nvPr>
        </p:nvSpPr>
        <p:spPr/>
        <p:txBody>
          <a:bodyPr>
            <a:normAutofit/>
          </a:bodyPr>
          <a:lstStyle/>
          <a:p>
            <a:pPr marL="0" indent="0">
              <a:buNone/>
            </a:pPr>
            <a:r>
              <a:rPr lang="en-US" sz="1600" b="0" i="0" dirty="0">
                <a:solidFill>
                  <a:schemeClr val="tx1"/>
                </a:solidFill>
                <a:effectLst/>
                <a:latin typeface="+mj-lt"/>
              </a:rPr>
              <a:t>Several investigations have delved into employing machine learning for heart disease prediction. </a:t>
            </a:r>
            <a:r>
              <a:rPr lang="en-US" sz="1600" b="0" i="0" dirty="0" err="1">
                <a:solidFill>
                  <a:schemeClr val="tx1"/>
                </a:solidFill>
                <a:effectLst/>
                <a:latin typeface="+mj-lt"/>
              </a:rPr>
              <a:t>Shuge</a:t>
            </a:r>
            <a:r>
              <a:rPr lang="en-US" sz="1600" b="0" i="0" dirty="0">
                <a:solidFill>
                  <a:schemeClr val="tx1"/>
                </a:solidFill>
                <a:effectLst/>
                <a:latin typeface="+mj-lt"/>
              </a:rPr>
              <a:t> Ouyang (2022)[1] and Chua, S.(2022)[2] each devised systems utilizing various algorithms; </a:t>
            </a:r>
            <a:r>
              <a:rPr lang="en-US" sz="1600" b="0" i="0" dirty="0" err="1">
                <a:solidFill>
                  <a:schemeClr val="tx1"/>
                </a:solidFill>
                <a:effectLst/>
                <a:latin typeface="+mj-lt"/>
              </a:rPr>
              <a:t>Shuge</a:t>
            </a:r>
            <a:r>
              <a:rPr lang="en-US" sz="1600" b="0" i="0" dirty="0">
                <a:solidFill>
                  <a:schemeClr val="tx1"/>
                </a:solidFill>
                <a:effectLst/>
                <a:latin typeface="+mj-lt"/>
              </a:rPr>
              <a:t> Ouyang concentrated on Support Vector Machine and decision trees, while Chua, S. explored Naïve Bayes, K-Nearest Neighbor, Support Vector Machine, Random Forest, and Decision Tree. Shah, W.(2021)[3] established a dependable prediction system using the Random Forest algorithm, whereas Yadav (2021)[4] achieved a remarkable 96% accuracy through the application of a genetic algorithm for feature optimization in the Naïve Bayes model. Collectively, these studies underscore the potential of machine learning In accurately forecasting heart disease.</a:t>
            </a:r>
          </a:p>
          <a:p>
            <a:pPr marL="0" indent="0">
              <a:buNone/>
            </a:pPr>
            <a:r>
              <a:rPr lang="en-US" sz="1600" b="0" i="0" dirty="0">
                <a:solidFill>
                  <a:schemeClr val="tx1"/>
                </a:solidFill>
                <a:effectLst/>
                <a:latin typeface="+mj-lt"/>
              </a:rPr>
              <a:t>Developing systems to predict heart disease is a major focus of research. Scientists are using patient records and various computer programs to improve the accuracy of these predictions. However, there are challenges with these systems. L. P. Koyi (2021)[13] discusses issues like how to describe the information, identifying risk factors, and establishing connections between them. Rahman (2022)[14] emphasizes the importance of fast and accurate predictions. They used computer programs to achieve high accuracy and explored different ways to organize information. Despite progress, there are still problems with the quality of information, understanding it, and making it beneficial for everyone. More research is necessary to address these challenges.</a:t>
            </a:r>
            <a:endParaRPr lang="en-US" sz="1600" dirty="0">
              <a:solidFill>
                <a:schemeClr val="tx1"/>
              </a:solidFill>
              <a:latin typeface="+mj-lt"/>
            </a:endParaRPr>
          </a:p>
        </p:txBody>
      </p:sp>
    </p:spTree>
    <p:extLst>
      <p:ext uri="{BB962C8B-B14F-4D97-AF65-F5344CB8AC3E}">
        <p14:creationId xmlns:p14="http://schemas.microsoft.com/office/powerpoint/2010/main" val="28006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371600"/>
            <a:ext cx="7772400" cy="3177380"/>
          </a:xfrm>
        </p:spPr>
        <p:txBody>
          <a:bodyPr>
            <a:normAutofit/>
          </a:bodyPr>
          <a:lstStyle/>
          <a:p>
            <a:pPr algn="ctr"/>
            <a:r>
              <a:rPr lang="en-US" sz="4800" b="1" i="0" dirty="0">
                <a:solidFill>
                  <a:srgbClr val="E3E3E3"/>
                </a:solidFill>
                <a:effectLst/>
              </a:rPr>
              <a:t>Phase 1</a:t>
            </a:r>
            <a:r>
              <a:rPr lang="en-US" sz="4800" b="0" i="0" dirty="0">
                <a:solidFill>
                  <a:srgbClr val="E3E3E3"/>
                </a:solidFill>
                <a:effectLst/>
                <a:latin typeface="Roboto" panose="02000000000000000000" pitchFamily="2" charset="0"/>
              </a:rPr>
              <a:t>: </a:t>
            </a:r>
            <a:br>
              <a:rPr lang="en-US" sz="4800" b="0" i="0" dirty="0">
                <a:solidFill>
                  <a:srgbClr val="E3E3E3"/>
                </a:solidFill>
                <a:effectLst/>
                <a:latin typeface="Roboto" panose="02000000000000000000" pitchFamily="2" charset="0"/>
              </a:rPr>
            </a:br>
            <a:r>
              <a:rPr lang="en-US" sz="2700" b="0" i="0" dirty="0">
                <a:solidFill>
                  <a:srgbClr val="E3E3E3"/>
                </a:solidFill>
                <a:effectLst/>
                <a:latin typeface="Roboto" panose="02000000000000000000" pitchFamily="2" charset="0"/>
              </a:rPr>
              <a:t>Data Preprocessing, Exploration &amp; Visualization</a:t>
            </a:r>
            <a:br>
              <a:rPr lang="en-US" sz="4800" dirty="0">
                <a:solidFill>
                  <a:srgbClr val="E3E3E3"/>
                </a:solidFill>
                <a:latin typeface="Roboto" panose="02000000000000000000" pitchFamily="2" charset="0"/>
              </a:rPr>
            </a:br>
            <a:br>
              <a:rPr lang="en-US" sz="4800" dirty="0">
                <a:solidFill>
                  <a:srgbClr val="E3E3E3"/>
                </a:solidFill>
                <a:latin typeface="Roboto" panose="02000000000000000000" pitchFamily="2" charset="0"/>
              </a:rPr>
            </a:br>
            <a:r>
              <a:rPr lang="en-US" sz="4800" b="1" i="0" dirty="0">
                <a:solidFill>
                  <a:srgbClr val="E3E3E3"/>
                </a:solidFill>
                <a:effectLst/>
              </a:rPr>
              <a:t>Phase 2</a:t>
            </a:r>
            <a:r>
              <a:rPr lang="en-US" sz="4800" b="0" i="0" dirty="0">
                <a:solidFill>
                  <a:srgbClr val="E3E3E3"/>
                </a:solidFill>
                <a:effectLst/>
                <a:latin typeface="Roboto" panose="02000000000000000000" pitchFamily="2" charset="0"/>
              </a:rPr>
              <a:t>: </a:t>
            </a:r>
            <a:br>
              <a:rPr lang="en-US" sz="4800" b="0" i="0" dirty="0">
                <a:solidFill>
                  <a:srgbClr val="E3E3E3"/>
                </a:solidFill>
                <a:effectLst/>
                <a:latin typeface="Roboto" panose="02000000000000000000" pitchFamily="2" charset="0"/>
              </a:rPr>
            </a:br>
            <a:r>
              <a:rPr lang="en-US" sz="2700" b="0" i="0" dirty="0">
                <a:solidFill>
                  <a:srgbClr val="E3E3E3"/>
                </a:solidFill>
                <a:effectLst/>
                <a:latin typeface="Roboto" panose="02000000000000000000" pitchFamily="2" charset="0"/>
              </a:rPr>
              <a:t>Implementing Machine Learning on the processed Data</a:t>
            </a:r>
          </a:p>
        </p:txBody>
      </p:sp>
    </p:spTree>
    <p:extLst>
      <p:ext uri="{BB962C8B-B14F-4D97-AF65-F5344CB8AC3E}">
        <p14:creationId xmlns:p14="http://schemas.microsoft.com/office/powerpoint/2010/main" val="353771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0" i="0" dirty="0">
                <a:solidFill>
                  <a:srgbClr val="E3E3E3"/>
                </a:solidFill>
                <a:effectLst/>
                <a:latin typeface="Roboto" panose="02000000000000000000" pitchFamily="2" charset="0"/>
              </a:rPr>
              <a:t>Introduction</a:t>
            </a:r>
          </a:p>
        </p:txBody>
      </p:sp>
      <p:sp>
        <p:nvSpPr>
          <p:cNvPr id="4" name="Content Placeholder 3">
            <a:extLst>
              <a:ext uri="{FF2B5EF4-FFF2-40B4-BE49-F238E27FC236}">
                <a16:creationId xmlns:a16="http://schemas.microsoft.com/office/drawing/2014/main" id="{F5359D2D-92C7-6626-6E15-BA889E806B9A}"/>
              </a:ext>
            </a:extLst>
          </p:cNvPr>
          <p:cNvSpPr>
            <a:spLocks noGrp="1"/>
          </p:cNvSpPr>
          <p:nvPr>
            <p:ph idx="1"/>
          </p:nvPr>
        </p:nvSpPr>
        <p:spPr/>
        <p:txBody>
          <a:bodyPr>
            <a:normAutofit/>
          </a:bodyPr>
          <a:lstStyle/>
          <a:p>
            <a:pPr marL="0" indent="0">
              <a:buNone/>
            </a:pPr>
            <a:r>
              <a:rPr lang="en-US" sz="2000" b="0" i="0" dirty="0">
                <a:solidFill>
                  <a:schemeClr val="accent1"/>
                </a:solidFill>
                <a:effectLst/>
                <a:latin typeface="+mj-lt"/>
              </a:rPr>
              <a:t>Source of Dataset</a:t>
            </a:r>
          </a:p>
          <a:p>
            <a:pPr marL="0" indent="0">
              <a:buNone/>
            </a:pPr>
            <a:r>
              <a:rPr lang="en-US" sz="1600" b="0" i="0" dirty="0">
                <a:solidFill>
                  <a:schemeClr val="tx1"/>
                </a:solidFill>
                <a:effectLst/>
                <a:latin typeface="+mj-lt"/>
              </a:rPr>
              <a:t>The dataset employed in this research, obtained from Kaggle (</a:t>
            </a:r>
            <a:r>
              <a:rPr lang="en-US" sz="1600" b="0" i="0" dirty="0" err="1">
                <a:solidFill>
                  <a:schemeClr val="tx1"/>
                </a:solidFill>
                <a:effectLst/>
                <a:latin typeface="+mj-lt"/>
              </a:rPr>
              <a:t>fedsoriano</a:t>
            </a:r>
            <a:r>
              <a:rPr lang="en-US" sz="1600" b="0" i="0" dirty="0">
                <a:solidFill>
                  <a:schemeClr val="tx1"/>
                </a:solidFill>
                <a:effectLst/>
                <a:latin typeface="+mj-lt"/>
              </a:rPr>
              <a:t>, September 2021), focuses on predicting heart failure and includes data concerning occurrences of heart failure as well as related factors. It serves as a valuable resource for conducting analyses and investigations within the field of cardiovascular health.</a:t>
            </a:r>
          </a:p>
          <a:p>
            <a:pPr marL="0" indent="0">
              <a:buNone/>
            </a:pPr>
            <a:r>
              <a:rPr lang="en-US" sz="2000" b="0" i="0" dirty="0">
                <a:solidFill>
                  <a:schemeClr val="accent1"/>
                </a:solidFill>
                <a:effectLst/>
                <a:latin typeface="+mj-lt"/>
              </a:rPr>
              <a:t>Details of the dataset</a:t>
            </a:r>
          </a:p>
          <a:p>
            <a:pPr marL="0" indent="0">
              <a:buNone/>
            </a:pPr>
            <a:r>
              <a:rPr lang="en-US" sz="1600" b="0" i="0" dirty="0">
                <a:solidFill>
                  <a:schemeClr val="tx1"/>
                </a:solidFill>
                <a:effectLst/>
                <a:latin typeface="+mj-lt"/>
              </a:rPr>
              <a:t>The dataset centers on heart diseases, which stand as the primary cause of death globally, accounting for roughly 17.9 million deaths each year, equivalent to around 31% of total global fatalities. Heart failure is common and frequently linked with heart diseases. This dataset consists of 11 features and 918 observation designed to forecast potential heart issues. Early identification and control are crucial, especially for individuals afflicted with heart diseases or those facing heightened risk.</a:t>
            </a:r>
          </a:p>
          <a:p>
            <a:pPr marL="0" indent="0">
              <a:buNone/>
            </a:pPr>
            <a:endParaRPr lang="en-US" sz="1600" dirty="0">
              <a:solidFill>
                <a:schemeClr val="tx1"/>
              </a:solidFill>
              <a:latin typeface="+mj-lt"/>
            </a:endParaRP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the dataset and displaying the top 10 rows</a:t>
            </a:r>
          </a:p>
        </p:txBody>
      </p:sp>
      <p:pic>
        <p:nvPicPr>
          <p:cNvPr id="8" name="Content Placeholder 7">
            <a:extLst>
              <a:ext uri="{FF2B5EF4-FFF2-40B4-BE49-F238E27FC236}">
                <a16:creationId xmlns:a16="http://schemas.microsoft.com/office/drawing/2014/main" id="{10AE9C35-5EBE-C245-21DF-E52FFC68707D}"/>
              </a:ext>
            </a:extLst>
          </p:cNvPr>
          <p:cNvPicPr>
            <a:picLocks noGrp="1" noChangeAspect="1"/>
          </p:cNvPicPr>
          <p:nvPr>
            <p:ph sz="half" idx="2"/>
          </p:nvPr>
        </p:nvPicPr>
        <p:blipFill>
          <a:blip r:embed="rId2"/>
          <a:stretch>
            <a:fillRect/>
          </a:stretch>
        </p:blipFill>
        <p:spPr>
          <a:xfrm>
            <a:off x="1066800" y="2057400"/>
            <a:ext cx="10058400" cy="4191000"/>
          </a:xfrm>
        </p:spPr>
      </p:pic>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0" dirty="0">
                <a:solidFill>
                  <a:srgbClr val="E3E3E3"/>
                </a:solidFill>
                <a:effectLst/>
              </a:rPr>
              <a:t>Goals and Objectives</a:t>
            </a:r>
          </a:p>
        </p:txBody>
      </p:sp>
      <p:sp>
        <p:nvSpPr>
          <p:cNvPr id="4" name="Content Placeholder 3"/>
          <p:cNvSpPr>
            <a:spLocks noGrp="1"/>
          </p:cNvSpPr>
          <p:nvPr>
            <p:ph sz="half" idx="2"/>
          </p:nvPr>
        </p:nvSpPr>
        <p:spPr>
          <a:xfrm>
            <a:off x="1066800" y="2133600"/>
            <a:ext cx="10058400" cy="4114800"/>
          </a:xfrm>
        </p:spPr>
        <p:txBody>
          <a:bodyPr>
            <a:normAutofit fontScale="70000" lnSpcReduction="20000"/>
          </a:bodyPr>
          <a:lstStyle/>
          <a:p>
            <a:pPr marL="0" indent="0" algn="l">
              <a:buNone/>
            </a:pPr>
            <a:r>
              <a:rPr lang="en-US" b="0" i="0" dirty="0">
                <a:solidFill>
                  <a:schemeClr val="tx1"/>
                </a:solidFill>
                <a:effectLst/>
                <a:latin typeface="+mj-lt"/>
              </a:rPr>
              <a:t>Detecting heart disease early is crucial for better patient outcomes, making it an important focus in public health.</a:t>
            </a:r>
          </a:p>
          <a:p>
            <a:pPr marL="0" indent="0" algn="l">
              <a:buNone/>
            </a:pPr>
            <a:r>
              <a:rPr lang="en-US" b="0" i="0" dirty="0">
                <a:solidFill>
                  <a:schemeClr val="tx1"/>
                </a:solidFill>
                <a:effectLst/>
                <a:latin typeface="+mj-lt"/>
              </a:rPr>
              <a:t>The main aim of this project has two parts: first, to forecast the chance of heart disease using common health markers, and second, to pinpoint the key factors that contribute to the occurrence of heart disease. Using machine learning methods, the goal is to thoroughly examine patient data to gain a deeper understanding of the factors linked to the development of heart disease.</a:t>
            </a:r>
          </a:p>
          <a:p>
            <a:pPr marL="0" indent="0" algn="l">
              <a:buNone/>
            </a:pPr>
            <a:r>
              <a:rPr lang="en-US" b="0" i="0" dirty="0">
                <a:solidFill>
                  <a:schemeClr val="tx1"/>
                </a:solidFill>
                <a:effectLst/>
                <a:latin typeface="+mj-lt"/>
              </a:rPr>
              <a:t>Furthermore, a secondary goal is to perform exploratory data analysis (EDA) to reveal patterns and connections within the dataset. This step entails using fundamental descriptive statistics and visualizations to understand the underlying factors contributing to heart disease risk. Data cleaning and preprocessing are crucial steps in this process to maintain the accuracy and dependability of the ensuing predictive modeling.</a:t>
            </a:r>
          </a:p>
          <a:p>
            <a:pPr marL="0" indent="0" algn="l">
              <a:buNone/>
            </a:pPr>
            <a:r>
              <a:rPr lang="en-US" b="0" i="0" dirty="0">
                <a:solidFill>
                  <a:schemeClr val="tx1"/>
                </a:solidFill>
                <a:effectLst/>
                <a:latin typeface="+mj-lt"/>
              </a:rPr>
              <a:t>In conclusion, the objectives established in this project address the pressing need for accurate and dependable predictive models in cardiovascular health. By employing data-driven methods and robust methodologies, this initiative strives to progress early detection, refine clinical decision-making, and ultimately contribute to better patient outcomes in preventing and managing heart disease.</a:t>
            </a:r>
          </a:p>
        </p:txBody>
      </p:sp>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0" dirty="0">
                <a:solidFill>
                  <a:srgbClr val="E3E3E3"/>
                </a:solidFill>
                <a:effectLst/>
              </a:rPr>
              <a:t>Data Cleaning and Preprocessing</a:t>
            </a:r>
          </a:p>
        </p:txBody>
      </p:sp>
      <p:sp>
        <p:nvSpPr>
          <p:cNvPr id="4" name="Content Placeholder 3">
            <a:extLst>
              <a:ext uri="{FF2B5EF4-FFF2-40B4-BE49-F238E27FC236}">
                <a16:creationId xmlns:a16="http://schemas.microsoft.com/office/drawing/2014/main" id="{47668D0A-1728-9533-9B4B-D2B704D23D14}"/>
              </a:ext>
            </a:extLst>
          </p:cNvPr>
          <p:cNvSpPr>
            <a:spLocks noGrp="1"/>
          </p:cNvSpPr>
          <p:nvPr>
            <p:ph idx="1"/>
          </p:nvPr>
        </p:nvSpPr>
        <p:spPr/>
        <p:txBody>
          <a:bodyPr>
            <a:normAutofit/>
          </a:bodyPr>
          <a:lstStyle/>
          <a:p>
            <a:pPr marL="0" indent="0">
              <a:buNone/>
            </a:pPr>
            <a:r>
              <a:rPr lang="en-US" sz="1600" b="0" i="0" dirty="0">
                <a:solidFill>
                  <a:schemeClr val="tx1"/>
                </a:solidFill>
                <a:effectLst/>
                <a:latin typeface="+mj-lt"/>
              </a:rPr>
              <a:t>In this part, we explain the actions we took to clean and prepare the data for this project.</a:t>
            </a:r>
          </a:p>
          <a:p>
            <a:pPr marL="342900" indent="-342900" algn="l">
              <a:buAutoNum type="arabicPeriod"/>
            </a:pPr>
            <a:r>
              <a:rPr lang="en-US" sz="1600" b="0" i="0" dirty="0">
                <a:solidFill>
                  <a:schemeClr val="accent1"/>
                </a:solidFill>
                <a:effectLst/>
                <a:latin typeface="+mj-lt"/>
              </a:rPr>
              <a:t>Initial Data Exploration:</a:t>
            </a:r>
          </a:p>
          <a:p>
            <a:pPr marL="0" indent="0" algn="l">
              <a:buNone/>
            </a:pPr>
            <a:r>
              <a:rPr lang="en-US" sz="1600" dirty="0">
                <a:solidFill>
                  <a:schemeClr val="tx1"/>
                </a:solidFill>
                <a:latin typeface="+mj-lt"/>
              </a:rPr>
              <a:t>	</a:t>
            </a:r>
            <a:r>
              <a:rPr lang="en-US" sz="1600" b="0" i="0" dirty="0">
                <a:solidFill>
                  <a:schemeClr val="tx1"/>
                </a:solidFill>
                <a:effectLst/>
                <a:latin typeface="+mj-lt"/>
              </a:rPr>
              <a:t>We began by examining the dataset's information using df.info() to get an overview of the data types and presence of missing values. Subsequently, we utilized </a:t>
            </a:r>
            <a:r>
              <a:rPr lang="en-US" sz="1600" b="0" i="0" dirty="0" err="1">
                <a:solidFill>
                  <a:schemeClr val="tx1"/>
                </a:solidFill>
                <a:effectLst/>
                <a:latin typeface="+mj-lt"/>
              </a:rPr>
              <a:t>df.describe</a:t>
            </a:r>
            <a:r>
              <a:rPr lang="en-US" sz="1600" b="0" i="0" dirty="0">
                <a:solidFill>
                  <a:schemeClr val="tx1"/>
                </a:solidFill>
                <a:effectLst/>
                <a:latin typeface="+mj-lt"/>
              </a:rPr>
              <a:t>() to generate descriptive statistics, aiding in understanding the distribution and range of values within each column.</a:t>
            </a:r>
          </a:p>
          <a:p>
            <a:pPr marL="0" indent="0" algn="l">
              <a:buNone/>
            </a:pPr>
            <a:r>
              <a:rPr lang="en-US" sz="1600" b="0" i="0" dirty="0">
                <a:solidFill>
                  <a:schemeClr val="accent1"/>
                </a:solidFill>
                <a:effectLst/>
                <a:latin typeface="+mj-lt"/>
              </a:rPr>
              <a:t>2.   Handling Duplicate and Null Values:</a:t>
            </a:r>
          </a:p>
          <a:p>
            <a:pPr marL="0" indent="0" algn="l">
              <a:buNone/>
            </a:pPr>
            <a:r>
              <a:rPr lang="en-US" sz="1600" dirty="0">
                <a:solidFill>
                  <a:schemeClr val="tx1"/>
                </a:solidFill>
                <a:latin typeface="+mj-lt"/>
              </a:rPr>
              <a:t>	</a:t>
            </a:r>
            <a:r>
              <a:rPr lang="en-US" sz="1600" b="0" i="0" dirty="0">
                <a:solidFill>
                  <a:schemeClr val="tx1"/>
                </a:solidFill>
                <a:effectLst/>
                <a:latin typeface="+mj-lt"/>
              </a:rPr>
              <a:t>To ensure data integrity, we checked for any duplicate entries or null values within the dataset. By employing techniques such as </a:t>
            </a:r>
            <a:r>
              <a:rPr lang="en-US" sz="1600" b="0" i="0" dirty="0" err="1">
                <a:solidFill>
                  <a:schemeClr val="tx1"/>
                </a:solidFill>
                <a:effectLst/>
                <a:latin typeface="+mj-lt"/>
              </a:rPr>
              <a:t>df.duplicated</a:t>
            </a:r>
            <a:r>
              <a:rPr lang="en-US" sz="1600" b="0" i="0" dirty="0">
                <a:solidFill>
                  <a:schemeClr val="tx1"/>
                </a:solidFill>
                <a:effectLst/>
                <a:latin typeface="+mj-lt"/>
              </a:rPr>
              <a:t>() and </a:t>
            </a:r>
            <a:r>
              <a:rPr lang="en-US" sz="1600" b="0" i="0" dirty="0" err="1">
                <a:solidFill>
                  <a:schemeClr val="tx1"/>
                </a:solidFill>
                <a:effectLst/>
                <a:latin typeface="+mj-lt"/>
              </a:rPr>
              <a:t>df.isnull</a:t>
            </a:r>
            <a:r>
              <a:rPr lang="en-US" sz="1600" b="0" i="0" dirty="0">
                <a:solidFill>
                  <a:schemeClr val="tx1"/>
                </a:solidFill>
                <a:effectLst/>
                <a:latin typeface="+mj-lt"/>
              </a:rPr>
              <a:t>().sum(), we identified and addressed any duplicate rows or missing values.</a:t>
            </a:r>
          </a:p>
          <a:p>
            <a:pPr marL="0" indent="0" algn="l">
              <a:buNone/>
            </a:pPr>
            <a:r>
              <a:rPr lang="en-US" sz="1600" b="0" i="0" dirty="0">
                <a:solidFill>
                  <a:schemeClr val="accent1"/>
                </a:solidFill>
                <a:effectLst/>
                <a:latin typeface="+mj-lt"/>
              </a:rPr>
              <a:t>3.   Removal of Zero Values:</a:t>
            </a:r>
          </a:p>
          <a:p>
            <a:pPr marL="0" indent="0" algn="l">
              <a:buNone/>
            </a:pPr>
            <a:r>
              <a:rPr lang="en-US" sz="1600" dirty="0">
                <a:solidFill>
                  <a:schemeClr val="tx1"/>
                </a:solidFill>
                <a:latin typeface="+mj-lt"/>
              </a:rPr>
              <a:t>	</a:t>
            </a:r>
            <a:r>
              <a:rPr lang="en-US" sz="1600" b="0" i="0" dirty="0">
                <a:solidFill>
                  <a:schemeClr val="tx1"/>
                </a:solidFill>
                <a:effectLst/>
                <a:latin typeface="+mj-lt"/>
              </a:rPr>
              <a:t>Upon further inspection, we discovered certain columns containing zero values, which could potentially affect model performance. To mitigate this, we systematically removed zero values from these specific columns, ensuring the reliability and accuracy of the dataset for subsequent modeling tasks.</a:t>
            </a:r>
          </a:p>
          <a:p>
            <a:pPr marL="0" indent="0">
              <a:buNone/>
            </a:pPr>
            <a:endParaRPr lang="en-US" sz="1600" dirty="0">
              <a:solidFill>
                <a:schemeClr val="tx1"/>
              </a:solidFill>
              <a:latin typeface="+mj-lt"/>
            </a:endParaRPr>
          </a:p>
        </p:txBody>
      </p:sp>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7F4EA2-241A-4CC7-9B9F-5B966FE2F4F8}"/>
              </a:ext>
            </a:extLst>
          </p:cNvPr>
          <p:cNvPicPr>
            <a:picLocks noChangeAspect="1"/>
          </p:cNvPicPr>
          <p:nvPr/>
        </p:nvPicPr>
        <p:blipFill>
          <a:blip r:embed="rId2"/>
          <a:stretch>
            <a:fillRect/>
          </a:stretch>
        </p:blipFill>
        <p:spPr>
          <a:xfrm>
            <a:off x="685800" y="457200"/>
            <a:ext cx="3563753" cy="3467435"/>
          </a:xfrm>
          <a:prstGeom prst="rect">
            <a:avLst/>
          </a:prstGeom>
        </p:spPr>
      </p:pic>
      <p:pic>
        <p:nvPicPr>
          <p:cNvPr id="6" name="Picture 5">
            <a:extLst>
              <a:ext uri="{FF2B5EF4-FFF2-40B4-BE49-F238E27FC236}">
                <a16:creationId xmlns:a16="http://schemas.microsoft.com/office/drawing/2014/main" id="{F5D5BABC-0117-775E-1539-6766AEA4395E}"/>
              </a:ext>
            </a:extLst>
          </p:cNvPr>
          <p:cNvPicPr>
            <a:picLocks noChangeAspect="1"/>
          </p:cNvPicPr>
          <p:nvPr/>
        </p:nvPicPr>
        <p:blipFill>
          <a:blip r:embed="rId3"/>
          <a:stretch>
            <a:fillRect/>
          </a:stretch>
        </p:blipFill>
        <p:spPr>
          <a:xfrm>
            <a:off x="4572000" y="457200"/>
            <a:ext cx="6901322" cy="3124200"/>
          </a:xfrm>
          <a:prstGeom prst="rect">
            <a:avLst/>
          </a:prstGeom>
        </p:spPr>
      </p:pic>
      <p:pic>
        <p:nvPicPr>
          <p:cNvPr id="8" name="Picture 7">
            <a:extLst>
              <a:ext uri="{FF2B5EF4-FFF2-40B4-BE49-F238E27FC236}">
                <a16:creationId xmlns:a16="http://schemas.microsoft.com/office/drawing/2014/main" id="{1A0ACE5B-D0D3-268C-D085-6B079A4462EA}"/>
              </a:ext>
            </a:extLst>
          </p:cNvPr>
          <p:cNvPicPr>
            <a:picLocks noChangeAspect="1"/>
          </p:cNvPicPr>
          <p:nvPr/>
        </p:nvPicPr>
        <p:blipFill>
          <a:blip r:embed="rId4"/>
          <a:stretch>
            <a:fillRect/>
          </a:stretch>
        </p:blipFill>
        <p:spPr>
          <a:xfrm>
            <a:off x="685800" y="4191000"/>
            <a:ext cx="3563753" cy="1056548"/>
          </a:xfrm>
          <a:prstGeom prst="rect">
            <a:avLst/>
          </a:prstGeom>
        </p:spPr>
      </p:pic>
      <p:pic>
        <p:nvPicPr>
          <p:cNvPr id="10" name="Picture 9">
            <a:extLst>
              <a:ext uri="{FF2B5EF4-FFF2-40B4-BE49-F238E27FC236}">
                <a16:creationId xmlns:a16="http://schemas.microsoft.com/office/drawing/2014/main" id="{5A863E2A-DFEC-4B89-809F-49F531FB1349}"/>
              </a:ext>
            </a:extLst>
          </p:cNvPr>
          <p:cNvPicPr>
            <a:picLocks noChangeAspect="1"/>
          </p:cNvPicPr>
          <p:nvPr/>
        </p:nvPicPr>
        <p:blipFill>
          <a:blip r:embed="rId5"/>
          <a:stretch>
            <a:fillRect/>
          </a:stretch>
        </p:blipFill>
        <p:spPr>
          <a:xfrm>
            <a:off x="4638535" y="3810000"/>
            <a:ext cx="2914929" cy="2442988"/>
          </a:xfrm>
          <a:prstGeom prst="rect">
            <a:avLst/>
          </a:prstGeom>
        </p:spPr>
      </p:pic>
      <p:pic>
        <p:nvPicPr>
          <p:cNvPr id="12" name="Picture 11">
            <a:extLst>
              <a:ext uri="{FF2B5EF4-FFF2-40B4-BE49-F238E27FC236}">
                <a16:creationId xmlns:a16="http://schemas.microsoft.com/office/drawing/2014/main" id="{5D122118-10B8-A3CA-9DC6-BBC0D5857D07}"/>
              </a:ext>
            </a:extLst>
          </p:cNvPr>
          <p:cNvPicPr>
            <a:picLocks noChangeAspect="1"/>
          </p:cNvPicPr>
          <p:nvPr/>
        </p:nvPicPr>
        <p:blipFill>
          <a:blip r:embed="rId6"/>
          <a:stretch>
            <a:fillRect/>
          </a:stretch>
        </p:blipFill>
        <p:spPr>
          <a:xfrm>
            <a:off x="8305800" y="3810000"/>
            <a:ext cx="2552486" cy="2566027"/>
          </a:xfrm>
          <a:prstGeom prst="rect">
            <a:avLst/>
          </a:prstGeom>
        </p:spPr>
      </p:pic>
    </p:spTree>
    <p:extLst>
      <p:ext uri="{BB962C8B-B14F-4D97-AF65-F5344CB8AC3E}">
        <p14:creationId xmlns:p14="http://schemas.microsoft.com/office/powerpoint/2010/main" val="100186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D73576-1598-0E7E-74B9-9BB75BFD664C}"/>
              </a:ext>
            </a:extLst>
          </p:cNvPr>
          <p:cNvSpPr>
            <a:spLocks noGrp="1"/>
          </p:cNvSpPr>
          <p:nvPr>
            <p:ph type="title"/>
          </p:nvPr>
        </p:nvSpPr>
        <p:spPr/>
        <p:txBody>
          <a:bodyPr>
            <a:normAutofit/>
          </a:bodyPr>
          <a:lstStyle/>
          <a:p>
            <a:r>
              <a:rPr lang="en-US" b="0" i="0" dirty="0">
                <a:solidFill>
                  <a:srgbClr val="E3E3E3"/>
                </a:solidFill>
                <a:effectLst/>
              </a:rPr>
              <a:t>Data Exploration &amp; Visualization</a:t>
            </a:r>
            <a:br>
              <a:rPr lang="en-US" b="0" i="0" dirty="0">
                <a:solidFill>
                  <a:srgbClr val="E3E3E3"/>
                </a:solidFill>
                <a:effectLst/>
              </a:rPr>
            </a:br>
            <a:r>
              <a:rPr lang="en-US" sz="1600" b="0" i="0" dirty="0">
                <a:solidFill>
                  <a:srgbClr val="E3E3E3"/>
                </a:solidFill>
                <a:effectLst/>
                <a:latin typeface="Roboto" panose="02000000000000000000" pitchFamily="2" charset="0"/>
              </a:rPr>
              <a:t>With our dataset now deemed clean, we're prepared to commence visualizing and exploring each of its features.</a:t>
            </a:r>
            <a:endParaRPr lang="en-US" sz="1600" dirty="0"/>
          </a:p>
        </p:txBody>
      </p:sp>
      <p:sp>
        <p:nvSpPr>
          <p:cNvPr id="5" name="Content Placeholder 4">
            <a:extLst>
              <a:ext uri="{FF2B5EF4-FFF2-40B4-BE49-F238E27FC236}">
                <a16:creationId xmlns:a16="http://schemas.microsoft.com/office/drawing/2014/main" id="{5B77EBE4-FE2D-46F1-B883-901D45CAD6EA}"/>
              </a:ext>
            </a:extLst>
          </p:cNvPr>
          <p:cNvSpPr>
            <a:spLocks noGrp="1"/>
          </p:cNvSpPr>
          <p:nvPr>
            <p:ph sz="half" idx="1"/>
          </p:nvPr>
        </p:nvSpPr>
        <p:spPr/>
        <p:txBody>
          <a:bodyPr>
            <a:normAutofit/>
          </a:bodyPr>
          <a:lstStyle/>
          <a:p>
            <a:pPr marL="0" indent="0">
              <a:buNone/>
            </a:pPr>
            <a:r>
              <a:rPr lang="en-US" sz="1800" b="0" i="0" dirty="0">
                <a:solidFill>
                  <a:schemeClr val="accent1"/>
                </a:solidFill>
                <a:effectLst/>
                <a:latin typeface="+mj-lt"/>
              </a:rPr>
              <a:t>Univariate Visualization</a:t>
            </a:r>
            <a:endParaRPr lang="en-US" sz="1800" dirty="0">
              <a:solidFill>
                <a:schemeClr val="accent1"/>
              </a:solidFill>
              <a:latin typeface="+mj-lt"/>
            </a:endParaRPr>
          </a:p>
          <a:p>
            <a:pPr marL="0" indent="0">
              <a:buNone/>
            </a:pPr>
            <a:r>
              <a:rPr lang="en-US" sz="1400" b="0" i="0" dirty="0">
                <a:solidFill>
                  <a:schemeClr val="accent1"/>
                </a:solidFill>
                <a:effectLst/>
                <a:latin typeface="Roboto" panose="02000000000000000000" pitchFamily="2" charset="0"/>
              </a:rPr>
              <a:t>Bar plot of peak of ST slope segment</a:t>
            </a:r>
          </a:p>
          <a:p>
            <a:pPr marL="0" indent="0">
              <a:buNone/>
            </a:pPr>
            <a:r>
              <a:rPr lang="en-US" sz="1400" b="0" i="0" dirty="0">
                <a:solidFill>
                  <a:schemeClr val="tx1"/>
                </a:solidFill>
                <a:effectLst/>
                <a:latin typeface="Roboto" panose="02000000000000000000" pitchFamily="2" charset="0"/>
              </a:rPr>
              <a:t>The figure 1.1 is </a:t>
            </a:r>
            <a:r>
              <a:rPr lang="en-US" sz="1400" b="0" i="0" dirty="0" err="1">
                <a:solidFill>
                  <a:schemeClr val="tx1"/>
                </a:solidFill>
                <a:effectLst/>
                <a:latin typeface="Roboto" panose="02000000000000000000" pitchFamily="2" charset="0"/>
              </a:rPr>
              <a:t>countplot</a:t>
            </a:r>
            <a:r>
              <a:rPr lang="en-US" sz="1400" b="0" i="0" dirty="0">
                <a:solidFill>
                  <a:schemeClr val="tx1"/>
                </a:solidFill>
                <a:effectLst/>
                <a:latin typeface="Roboto" panose="02000000000000000000" pitchFamily="2" charset="0"/>
              </a:rPr>
              <a:t> which shows the frequency of each ST slope type using different colors for better visualization. As we can see from the figure 1.1 Flat slope is the max count in the dataset.</a:t>
            </a:r>
          </a:p>
          <a:p>
            <a:pPr marL="0" indent="0">
              <a:buNone/>
            </a:pPr>
            <a:endParaRPr lang="en-US" sz="1400" b="0" i="0" dirty="0">
              <a:solidFill>
                <a:schemeClr val="tx1"/>
              </a:solidFill>
              <a:effectLst/>
              <a:latin typeface="Roboto" panose="02000000000000000000" pitchFamily="2" charset="0"/>
            </a:endParaRPr>
          </a:p>
        </p:txBody>
      </p:sp>
      <p:pic>
        <p:nvPicPr>
          <p:cNvPr id="10" name="Content Placeholder 9">
            <a:extLst>
              <a:ext uri="{FF2B5EF4-FFF2-40B4-BE49-F238E27FC236}">
                <a16:creationId xmlns:a16="http://schemas.microsoft.com/office/drawing/2014/main" id="{0326EE85-A63D-78A3-9107-E1C686774518}"/>
              </a:ext>
            </a:extLst>
          </p:cNvPr>
          <p:cNvPicPr>
            <a:picLocks noGrp="1" noChangeAspect="1"/>
          </p:cNvPicPr>
          <p:nvPr>
            <p:ph sz="half" idx="2"/>
          </p:nvPr>
        </p:nvPicPr>
        <p:blipFill>
          <a:blip r:embed="rId2"/>
          <a:stretch>
            <a:fillRect/>
          </a:stretch>
        </p:blipFill>
        <p:spPr>
          <a:xfrm>
            <a:off x="6324599" y="2217885"/>
            <a:ext cx="5213089" cy="4116365"/>
          </a:xfrm>
        </p:spPr>
      </p:pic>
      <p:pic>
        <p:nvPicPr>
          <p:cNvPr id="8" name="Picture 7">
            <a:extLst>
              <a:ext uri="{FF2B5EF4-FFF2-40B4-BE49-F238E27FC236}">
                <a16:creationId xmlns:a16="http://schemas.microsoft.com/office/drawing/2014/main" id="{474A41BE-F341-B2B1-44A3-5BC8DD5AFAEC}"/>
              </a:ext>
            </a:extLst>
          </p:cNvPr>
          <p:cNvPicPr>
            <a:picLocks noChangeAspect="1"/>
          </p:cNvPicPr>
          <p:nvPr/>
        </p:nvPicPr>
        <p:blipFill>
          <a:blip r:embed="rId3"/>
          <a:stretch>
            <a:fillRect/>
          </a:stretch>
        </p:blipFill>
        <p:spPr>
          <a:xfrm>
            <a:off x="860555" y="3886200"/>
            <a:ext cx="5213089" cy="1325563"/>
          </a:xfrm>
          <a:prstGeom prst="rect">
            <a:avLst/>
          </a:prstGeom>
        </p:spPr>
      </p:pic>
    </p:spTree>
    <p:extLst>
      <p:ext uri="{BB962C8B-B14F-4D97-AF65-F5344CB8AC3E}">
        <p14:creationId xmlns:p14="http://schemas.microsoft.com/office/powerpoint/2010/main" val="384841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C25A-9F09-C593-DAF7-4C0AB60E90F5}"/>
              </a:ext>
            </a:extLst>
          </p:cNvPr>
          <p:cNvSpPr>
            <a:spLocks noGrp="1"/>
          </p:cNvSpPr>
          <p:nvPr>
            <p:ph type="title"/>
          </p:nvPr>
        </p:nvSpPr>
        <p:spPr/>
        <p:txBody>
          <a:bodyPr/>
          <a:lstStyle/>
          <a:p>
            <a:r>
              <a:rPr lang="en-US" b="0" i="0" dirty="0" err="1">
                <a:solidFill>
                  <a:srgbClr val="E3E3E3"/>
                </a:solidFill>
                <a:effectLst/>
                <a:latin typeface="Roboto" panose="02000000000000000000" pitchFamily="2" charset="0"/>
              </a:rPr>
              <a:t>Histrogram</a:t>
            </a:r>
            <a:r>
              <a:rPr lang="en-US" b="0" i="0" dirty="0">
                <a:solidFill>
                  <a:srgbClr val="E3E3E3"/>
                </a:solidFill>
                <a:effectLst/>
                <a:latin typeface="Roboto" panose="02000000000000000000" pitchFamily="2" charset="0"/>
              </a:rPr>
              <a:t> of Age</a:t>
            </a:r>
            <a:endParaRPr lang="en-US" dirty="0"/>
          </a:p>
        </p:txBody>
      </p:sp>
      <p:sp>
        <p:nvSpPr>
          <p:cNvPr id="3" name="Content Placeholder 2">
            <a:extLst>
              <a:ext uri="{FF2B5EF4-FFF2-40B4-BE49-F238E27FC236}">
                <a16:creationId xmlns:a16="http://schemas.microsoft.com/office/drawing/2014/main" id="{28C014B4-3467-5DDD-1479-14CC484AA3E3}"/>
              </a:ext>
            </a:extLst>
          </p:cNvPr>
          <p:cNvSpPr>
            <a:spLocks noGrp="1"/>
          </p:cNvSpPr>
          <p:nvPr>
            <p:ph sz="half" idx="1"/>
          </p:nvPr>
        </p:nvSpPr>
        <p:spPr/>
        <p:txBody>
          <a:bodyPr>
            <a:normAutofit/>
          </a:bodyPr>
          <a:lstStyle/>
          <a:p>
            <a:pPr marL="0" indent="0">
              <a:buNone/>
            </a:pPr>
            <a:r>
              <a:rPr lang="en-US" sz="1600" b="0" i="0" dirty="0">
                <a:solidFill>
                  <a:schemeClr val="tx1"/>
                </a:solidFill>
                <a:effectLst/>
                <a:latin typeface="+mj-lt"/>
              </a:rPr>
              <a:t>The figure 1.2 is the histogram illustrating the distribution of ages within the dataset. Each bar represents the frequency (count) of individuals falling within a specific age range.</a:t>
            </a:r>
          </a:p>
          <a:p>
            <a:pPr marL="0" indent="0">
              <a:buNone/>
            </a:pPr>
            <a:endParaRPr lang="en-US" sz="1600" dirty="0">
              <a:solidFill>
                <a:schemeClr val="tx1"/>
              </a:solidFill>
              <a:latin typeface="+mj-lt"/>
            </a:endParaRPr>
          </a:p>
        </p:txBody>
      </p:sp>
      <p:pic>
        <p:nvPicPr>
          <p:cNvPr id="8" name="Content Placeholder 7">
            <a:extLst>
              <a:ext uri="{FF2B5EF4-FFF2-40B4-BE49-F238E27FC236}">
                <a16:creationId xmlns:a16="http://schemas.microsoft.com/office/drawing/2014/main" id="{0B44AEB2-8B44-B8B5-DD37-CFD3E8F1A110}"/>
              </a:ext>
            </a:extLst>
          </p:cNvPr>
          <p:cNvPicPr>
            <a:picLocks noGrp="1" noChangeAspect="1"/>
          </p:cNvPicPr>
          <p:nvPr>
            <p:ph sz="half" idx="2"/>
          </p:nvPr>
        </p:nvPicPr>
        <p:blipFill>
          <a:blip r:embed="rId2"/>
          <a:stretch>
            <a:fillRect/>
          </a:stretch>
        </p:blipFill>
        <p:spPr>
          <a:xfrm>
            <a:off x="6324600" y="2209800"/>
            <a:ext cx="4800600" cy="3429000"/>
          </a:xfrm>
        </p:spPr>
      </p:pic>
      <p:pic>
        <p:nvPicPr>
          <p:cNvPr id="6" name="Picture 5">
            <a:extLst>
              <a:ext uri="{FF2B5EF4-FFF2-40B4-BE49-F238E27FC236}">
                <a16:creationId xmlns:a16="http://schemas.microsoft.com/office/drawing/2014/main" id="{14754766-93DB-E736-EFFE-A55625FCF2E0}"/>
              </a:ext>
            </a:extLst>
          </p:cNvPr>
          <p:cNvPicPr>
            <a:picLocks noChangeAspect="1"/>
          </p:cNvPicPr>
          <p:nvPr/>
        </p:nvPicPr>
        <p:blipFill>
          <a:blip r:embed="rId3"/>
          <a:stretch>
            <a:fillRect/>
          </a:stretch>
        </p:blipFill>
        <p:spPr>
          <a:xfrm>
            <a:off x="609601" y="3172534"/>
            <a:ext cx="5562600" cy="2161466"/>
          </a:xfrm>
          <a:prstGeom prst="rect">
            <a:avLst/>
          </a:prstGeom>
        </p:spPr>
      </p:pic>
    </p:spTree>
    <p:extLst>
      <p:ext uri="{BB962C8B-B14F-4D97-AF65-F5344CB8AC3E}">
        <p14:creationId xmlns:p14="http://schemas.microsoft.com/office/powerpoint/2010/main" val="70178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613B9-4ACF-C732-FA4A-EF2C1BD005AD}"/>
              </a:ext>
            </a:extLst>
          </p:cNvPr>
          <p:cNvSpPr>
            <a:spLocks noGrp="1"/>
          </p:cNvSpPr>
          <p:nvPr>
            <p:ph type="title"/>
          </p:nvPr>
        </p:nvSpPr>
        <p:spPr/>
        <p:txBody>
          <a:bodyPr>
            <a:normAutofit/>
          </a:bodyPr>
          <a:lstStyle/>
          <a:p>
            <a:r>
              <a:rPr lang="en-US" b="0" i="0" dirty="0">
                <a:solidFill>
                  <a:srgbClr val="E3E3E3"/>
                </a:solidFill>
                <a:effectLst/>
                <a:latin typeface="Roboto" panose="02000000000000000000" pitchFamily="2" charset="0"/>
              </a:rPr>
              <a:t>Two-Variable Visualization</a:t>
            </a:r>
            <a:br>
              <a:rPr lang="en-US" b="0" i="0" dirty="0">
                <a:solidFill>
                  <a:srgbClr val="E3E3E3"/>
                </a:solidFill>
                <a:effectLst/>
                <a:latin typeface="Roboto" panose="02000000000000000000" pitchFamily="2" charset="0"/>
              </a:rPr>
            </a:br>
            <a:r>
              <a:rPr lang="en-US" sz="2000" b="0" i="0" dirty="0">
                <a:solidFill>
                  <a:srgbClr val="E3E3E3"/>
                </a:solidFill>
                <a:effectLst/>
                <a:latin typeface="Roboto" panose="02000000000000000000" pitchFamily="2" charset="0"/>
              </a:rPr>
              <a:t>Regression plot between Cholesterol and Age</a:t>
            </a:r>
            <a:endParaRPr lang="en-US" sz="2000" dirty="0"/>
          </a:p>
        </p:txBody>
      </p:sp>
      <p:sp>
        <p:nvSpPr>
          <p:cNvPr id="3" name="Content Placeholder 2">
            <a:extLst>
              <a:ext uri="{FF2B5EF4-FFF2-40B4-BE49-F238E27FC236}">
                <a16:creationId xmlns:a16="http://schemas.microsoft.com/office/drawing/2014/main" id="{52FE9EB7-F615-9C67-98E0-0E31D7A6AC4D}"/>
              </a:ext>
            </a:extLst>
          </p:cNvPr>
          <p:cNvSpPr>
            <a:spLocks noGrp="1"/>
          </p:cNvSpPr>
          <p:nvPr>
            <p:ph sz="half" idx="1"/>
          </p:nvPr>
        </p:nvSpPr>
        <p:spPr/>
        <p:txBody>
          <a:bodyPr>
            <a:normAutofit/>
          </a:bodyPr>
          <a:lstStyle/>
          <a:p>
            <a:pPr marL="0" indent="0">
              <a:buNone/>
            </a:pPr>
            <a:r>
              <a:rPr lang="en-US" sz="1600" b="0" i="0" dirty="0">
                <a:solidFill>
                  <a:schemeClr val="tx1"/>
                </a:solidFill>
                <a:effectLst/>
                <a:latin typeface="+mj-lt"/>
              </a:rPr>
              <a:t>Figure 2.1 is a regression plot illustrating the relationship between cholesterol levels and age. Each data point represents an individual's cholesterol level and age. The plot includes a regression line, which shows the overall trend in the data.</a:t>
            </a:r>
          </a:p>
          <a:p>
            <a:pPr marL="0" indent="0">
              <a:buNone/>
            </a:pPr>
            <a:endParaRPr lang="en-US" sz="1600" dirty="0">
              <a:solidFill>
                <a:schemeClr val="tx1"/>
              </a:solidFill>
              <a:latin typeface="+mj-lt"/>
            </a:endParaRPr>
          </a:p>
        </p:txBody>
      </p:sp>
      <p:pic>
        <p:nvPicPr>
          <p:cNvPr id="8" name="Content Placeholder 7">
            <a:extLst>
              <a:ext uri="{FF2B5EF4-FFF2-40B4-BE49-F238E27FC236}">
                <a16:creationId xmlns:a16="http://schemas.microsoft.com/office/drawing/2014/main" id="{7F4E6554-E3E3-944C-3D06-8B4A4DECC23C}"/>
              </a:ext>
            </a:extLst>
          </p:cNvPr>
          <p:cNvPicPr>
            <a:picLocks noGrp="1" noChangeAspect="1"/>
          </p:cNvPicPr>
          <p:nvPr>
            <p:ph sz="half" idx="2"/>
          </p:nvPr>
        </p:nvPicPr>
        <p:blipFill>
          <a:blip r:embed="rId2"/>
          <a:stretch>
            <a:fillRect/>
          </a:stretch>
        </p:blipFill>
        <p:spPr>
          <a:xfrm>
            <a:off x="6324600" y="2133600"/>
            <a:ext cx="4800600" cy="3746330"/>
          </a:xfrm>
        </p:spPr>
      </p:pic>
      <p:pic>
        <p:nvPicPr>
          <p:cNvPr id="6" name="Picture 5">
            <a:extLst>
              <a:ext uri="{FF2B5EF4-FFF2-40B4-BE49-F238E27FC236}">
                <a16:creationId xmlns:a16="http://schemas.microsoft.com/office/drawing/2014/main" id="{CE7FDC9B-A9A9-2B50-50C6-5BE8DBD89B61}"/>
              </a:ext>
            </a:extLst>
          </p:cNvPr>
          <p:cNvPicPr>
            <a:picLocks noChangeAspect="1"/>
          </p:cNvPicPr>
          <p:nvPr/>
        </p:nvPicPr>
        <p:blipFill>
          <a:blip r:embed="rId3"/>
          <a:stretch>
            <a:fillRect/>
          </a:stretch>
        </p:blipFill>
        <p:spPr>
          <a:xfrm>
            <a:off x="779035" y="3398674"/>
            <a:ext cx="5287113" cy="2163926"/>
          </a:xfrm>
          <a:prstGeom prst="rect">
            <a:avLst/>
          </a:prstGeom>
        </p:spPr>
      </p:pic>
    </p:spTree>
    <p:extLst>
      <p:ext uri="{BB962C8B-B14F-4D97-AF65-F5344CB8AC3E}">
        <p14:creationId xmlns:p14="http://schemas.microsoft.com/office/powerpoint/2010/main" val="71215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4EB3F-55DB-5D32-0E9E-44EBB7401F40}"/>
              </a:ext>
            </a:extLst>
          </p:cNvPr>
          <p:cNvSpPr>
            <a:spLocks noGrp="1"/>
          </p:cNvSpPr>
          <p:nvPr>
            <p:ph type="title"/>
          </p:nvPr>
        </p:nvSpPr>
        <p:spPr/>
        <p:txBody>
          <a:bodyPr/>
          <a:lstStyle/>
          <a:p>
            <a:r>
              <a:rPr lang="en-US" dirty="0">
                <a:solidFill>
                  <a:srgbClr val="E3E3E3"/>
                </a:solidFill>
                <a:latin typeface="Roboto" panose="02000000000000000000" pitchFamily="2" charset="0"/>
              </a:rPr>
              <a:t>Box</a:t>
            </a:r>
            <a:r>
              <a:rPr lang="en-US" b="0" i="0" dirty="0">
                <a:solidFill>
                  <a:srgbClr val="E3E3E3"/>
                </a:solidFill>
                <a:effectLst/>
                <a:latin typeface="Roboto" panose="02000000000000000000" pitchFamily="2" charset="0"/>
              </a:rPr>
              <a:t> plot of Cholesterol by Sex</a:t>
            </a:r>
            <a:endParaRPr lang="en-US" dirty="0"/>
          </a:p>
        </p:txBody>
      </p:sp>
      <p:sp>
        <p:nvSpPr>
          <p:cNvPr id="3" name="Content Placeholder 2">
            <a:extLst>
              <a:ext uri="{FF2B5EF4-FFF2-40B4-BE49-F238E27FC236}">
                <a16:creationId xmlns:a16="http://schemas.microsoft.com/office/drawing/2014/main" id="{DFCB32AF-608D-FF5E-DF81-9051735CAB27}"/>
              </a:ext>
            </a:extLst>
          </p:cNvPr>
          <p:cNvSpPr>
            <a:spLocks noGrp="1"/>
          </p:cNvSpPr>
          <p:nvPr>
            <p:ph sz="half" idx="1"/>
          </p:nvPr>
        </p:nvSpPr>
        <p:spPr/>
        <p:txBody>
          <a:bodyPr>
            <a:normAutofit/>
          </a:bodyPr>
          <a:lstStyle/>
          <a:p>
            <a:pPr marL="0" indent="0">
              <a:buNone/>
            </a:pPr>
            <a:r>
              <a:rPr lang="en-US" sz="1600" b="0" i="0" dirty="0">
                <a:solidFill>
                  <a:schemeClr val="tx1"/>
                </a:solidFill>
                <a:effectLst/>
                <a:latin typeface="+mj-lt"/>
              </a:rPr>
              <a:t>Figure 2.2: Boxplot of Cholesterol by Gender represents the distribution of cholesterol levels among different genders. This plot helps visualize the spread and central tendency of cholesterol levels across different sexes, allowing for comparison between the two groups.</a:t>
            </a:r>
          </a:p>
          <a:p>
            <a:pPr marL="0" indent="0">
              <a:buNone/>
            </a:pPr>
            <a:endParaRPr lang="en-US" sz="1600" dirty="0">
              <a:solidFill>
                <a:schemeClr val="tx1"/>
              </a:solidFill>
              <a:latin typeface="+mj-lt"/>
            </a:endParaRPr>
          </a:p>
        </p:txBody>
      </p:sp>
      <p:pic>
        <p:nvPicPr>
          <p:cNvPr id="8" name="Content Placeholder 7">
            <a:extLst>
              <a:ext uri="{FF2B5EF4-FFF2-40B4-BE49-F238E27FC236}">
                <a16:creationId xmlns:a16="http://schemas.microsoft.com/office/drawing/2014/main" id="{199B2BA2-8B51-8CE8-1F6A-65CA8AB5A164}"/>
              </a:ext>
            </a:extLst>
          </p:cNvPr>
          <p:cNvPicPr>
            <a:picLocks noGrp="1" noChangeAspect="1"/>
          </p:cNvPicPr>
          <p:nvPr>
            <p:ph sz="half" idx="2"/>
          </p:nvPr>
        </p:nvPicPr>
        <p:blipFill>
          <a:blip r:embed="rId2"/>
          <a:stretch>
            <a:fillRect/>
          </a:stretch>
        </p:blipFill>
        <p:spPr>
          <a:xfrm>
            <a:off x="6324600" y="2209800"/>
            <a:ext cx="4800600" cy="3810000"/>
          </a:xfrm>
        </p:spPr>
      </p:pic>
      <p:pic>
        <p:nvPicPr>
          <p:cNvPr id="6" name="Picture 5">
            <a:extLst>
              <a:ext uri="{FF2B5EF4-FFF2-40B4-BE49-F238E27FC236}">
                <a16:creationId xmlns:a16="http://schemas.microsoft.com/office/drawing/2014/main" id="{5E6A6E6A-872C-7895-BECF-F512D21360ED}"/>
              </a:ext>
            </a:extLst>
          </p:cNvPr>
          <p:cNvPicPr>
            <a:picLocks noChangeAspect="1"/>
          </p:cNvPicPr>
          <p:nvPr/>
        </p:nvPicPr>
        <p:blipFill>
          <a:blip r:embed="rId3"/>
          <a:stretch>
            <a:fillRect/>
          </a:stretch>
        </p:blipFill>
        <p:spPr>
          <a:xfrm>
            <a:off x="580415" y="3352800"/>
            <a:ext cx="5515585" cy="1828800"/>
          </a:xfrm>
          <a:prstGeom prst="rect">
            <a:avLst/>
          </a:prstGeom>
        </p:spPr>
      </p:pic>
    </p:spTree>
    <p:extLst>
      <p:ext uri="{BB962C8B-B14F-4D97-AF65-F5344CB8AC3E}">
        <p14:creationId xmlns:p14="http://schemas.microsoft.com/office/powerpoint/2010/main" val="34697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5D7DF-B85B-9A5C-0732-00F1D69FCA4C}"/>
              </a:ext>
            </a:extLst>
          </p:cNvPr>
          <p:cNvSpPr>
            <a:spLocks noGrp="1"/>
          </p:cNvSpPr>
          <p:nvPr>
            <p:ph type="title"/>
          </p:nvPr>
        </p:nvSpPr>
        <p:spPr/>
        <p:txBody>
          <a:bodyPr/>
          <a:lstStyle/>
          <a:p>
            <a:r>
              <a:rPr lang="en-US" b="0" i="0" dirty="0">
                <a:solidFill>
                  <a:srgbClr val="E3E3E3"/>
                </a:solidFill>
                <a:effectLst/>
                <a:latin typeface="Roboto" panose="02000000000000000000" pitchFamily="2" charset="0"/>
              </a:rPr>
              <a:t>Bar chart for Pain type by Sex</a:t>
            </a:r>
            <a:endParaRPr lang="en-US" dirty="0"/>
          </a:p>
        </p:txBody>
      </p:sp>
      <p:sp>
        <p:nvSpPr>
          <p:cNvPr id="3" name="Content Placeholder 2">
            <a:extLst>
              <a:ext uri="{FF2B5EF4-FFF2-40B4-BE49-F238E27FC236}">
                <a16:creationId xmlns:a16="http://schemas.microsoft.com/office/drawing/2014/main" id="{6095D1E4-AE17-F8F8-A6F0-AAAFBE6699DF}"/>
              </a:ext>
            </a:extLst>
          </p:cNvPr>
          <p:cNvSpPr>
            <a:spLocks noGrp="1"/>
          </p:cNvSpPr>
          <p:nvPr>
            <p:ph sz="half" idx="1"/>
          </p:nvPr>
        </p:nvSpPr>
        <p:spPr/>
        <p:txBody>
          <a:bodyPr>
            <a:normAutofit/>
          </a:bodyPr>
          <a:lstStyle/>
          <a:p>
            <a:pPr marL="0" indent="0">
              <a:buNone/>
            </a:pPr>
            <a:r>
              <a:rPr lang="en-US" sz="1800" b="0" i="0" dirty="0">
                <a:solidFill>
                  <a:schemeClr val="tx1"/>
                </a:solidFill>
                <a:effectLst/>
                <a:latin typeface="Roboto" panose="02000000000000000000" pitchFamily="2" charset="0"/>
              </a:rPr>
              <a:t>The plot depicts a bar chart illustrating the distribution of different types of chest pain among different genders within the dataset.</a:t>
            </a:r>
          </a:p>
          <a:p>
            <a:pPr marL="0" indent="0">
              <a:buNone/>
            </a:pPr>
            <a:endParaRPr lang="en-US" sz="1800" dirty="0">
              <a:solidFill>
                <a:schemeClr val="tx1"/>
              </a:solidFill>
            </a:endParaRPr>
          </a:p>
        </p:txBody>
      </p:sp>
      <p:pic>
        <p:nvPicPr>
          <p:cNvPr id="8" name="Content Placeholder 7">
            <a:extLst>
              <a:ext uri="{FF2B5EF4-FFF2-40B4-BE49-F238E27FC236}">
                <a16:creationId xmlns:a16="http://schemas.microsoft.com/office/drawing/2014/main" id="{79E23BC0-0224-68AD-985D-7311B5C25D07}"/>
              </a:ext>
            </a:extLst>
          </p:cNvPr>
          <p:cNvPicPr>
            <a:picLocks noGrp="1" noChangeAspect="1"/>
          </p:cNvPicPr>
          <p:nvPr>
            <p:ph sz="half" idx="2"/>
          </p:nvPr>
        </p:nvPicPr>
        <p:blipFill>
          <a:blip r:embed="rId2"/>
          <a:stretch>
            <a:fillRect/>
          </a:stretch>
        </p:blipFill>
        <p:spPr>
          <a:xfrm>
            <a:off x="6324600" y="2057400"/>
            <a:ext cx="4800600" cy="3810000"/>
          </a:xfrm>
        </p:spPr>
      </p:pic>
      <p:pic>
        <p:nvPicPr>
          <p:cNvPr id="6" name="Picture 5">
            <a:extLst>
              <a:ext uri="{FF2B5EF4-FFF2-40B4-BE49-F238E27FC236}">
                <a16:creationId xmlns:a16="http://schemas.microsoft.com/office/drawing/2014/main" id="{1FC50F79-2AAD-C471-CEE5-47FD8E0D32EB}"/>
              </a:ext>
            </a:extLst>
          </p:cNvPr>
          <p:cNvPicPr>
            <a:picLocks noChangeAspect="1"/>
          </p:cNvPicPr>
          <p:nvPr/>
        </p:nvPicPr>
        <p:blipFill>
          <a:blip r:embed="rId3"/>
          <a:stretch>
            <a:fillRect/>
          </a:stretch>
        </p:blipFill>
        <p:spPr>
          <a:xfrm>
            <a:off x="367028" y="2894010"/>
            <a:ext cx="5883363" cy="2516189"/>
          </a:xfrm>
          <a:prstGeom prst="rect">
            <a:avLst/>
          </a:prstGeom>
        </p:spPr>
      </p:pic>
    </p:spTree>
    <p:extLst>
      <p:ext uri="{BB962C8B-B14F-4D97-AF65-F5344CB8AC3E}">
        <p14:creationId xmlns:p14="http://schemas.microsoft.com/office/powerpoint/2010/main" val="2308379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14E0-21C7-4C55-D593-955F4DCA4CBD}"/>
              </a:ext>
            </a:extLst>
          </p:cNvPr>
          <p:cNvSpPr>
            <a:spLocks noGrp="1"/>
          </p:cNvSpPr>
          <p:nvPr>
            <p:ph type="title"/>
          </p:nvPr>
        </p:nvSpPr>
        <p:spPr/>
        <p:txBody>
          <a:bodyPr>
            <a:normAutofit/>
          </a:bodyPr>
          <a:lstStyle/>
          <a:p>
            <a:r>
              <a:rPr lang="en-US" b="0" i="0" dirty="0">
                <a:solidFill>
                  <a:srgbClr val="E3E3E3"/>
                </a:solidFill>
                <a:effectLst/>
                <a:latin typeface="Roboto" panose="02000000000000000000" pitchFamily="2" charset="0"/>
              </a:rPr>
              <a:t>Scatter plot with </a:t>
            </a:r>
            <a:r>
              <a:rPr lang="en-US" b="0" i="0" dirty="0" err="1">
                <a:solidFill>
                  <a:srgbClr val="E3E3E3"/>
                </a:solidFill>
                <a:effectLst/>
                <a:latin typeface="Roboto" panose="02000000000000000000" pitchFamily="2" charset="0"/>
              </a:rPr>
              <a:t>histrogram</a:t>
            </a:r>
            <a:r>
              <a:rPr lang="en-US" b="0" i="0" dirty="0">
                <a:solidFill>
                  <a:srgbClr val="E3E3E3"/>
                </a:solidFill>
                <a:effectLst/>
                <a:latin typeface="Roboto" panose="02000000000000000000" pitchFamily="2" charset="0"/>
              </a:rPr>
              <a:t> for Age and Max Heart Rate</a:t>
            </a:r>
            <a:endParaRPr lang="en-US" dirty="0"/>
          </a:p>
        </p:txBody>
      </p:sp>
      <p:sp>
        <p:nvSpPr>
          <p:cNvPr id="3" name="Content Placeholder 2">
            <a:extLst>
              <a:ext uri="{FF2B5EF4-FFF2-40B4-BE49-F238E27FC236}">
                <a16:creationId xmlns:a16="http://schemas.microsoft.com/office/drawing/2014/main" id="{0671AEB2-C200-F105-E690-1B9AEFD2BA92}"/>
              </a:ext>
            </a:extLst>
          </p:cNvPr>
          <p:cNvSpPr>
            <a:spLocks noGrp="1"/>
          </p:cNvSpPr>
          <p:nvPr>
            <p:ph sz="half" idx="1"/>
          </p:nvPr>
        </p:nvSpPr>
        <p:spPr/>
        <p:txBody>
          <a:bodyPr>
            <a:normAutofit/>
          </a:bodyPr>
          <a:lstStyle/>
          <a:p>
            <a:pPr marL="0" indent="0">
              <a:buNone/>
            </a:pPr>
            <a:r>
              <a:rPr lang="en-US" sz="1600" b="0" i="0">
                <a:solidFill>
                  <a:schemeClr val="tx1"/>
                </a:solidFill>
                <a:effectLst/>
                <a:latin typeface="+mj-lt"/>
              </a:rPr>
              <a:t>The joint plot </a:t>
            </a:r>
            <a:r>
              <a:rPr lang="en-US" sz="1600" b="0" i="0" dirty="0">
                <a:solidFill>
                  <a:schemeClr val="tx1"/>
                </a:solidFill>
                <a:effectLst/>
                <a:latin typeface="+mj-lt"/>
              </a:rPr>
              <a:t>includes scatter plots for each feature( Age and Max Heart Rate), histograms for each variable's distribution, and a regression line representing the relationship between the two variables.</a:t>
            </a:r>
          </a:p>
          <a:p>
            <a:pPr marL="0" indent="0">
              <a:buNone/>
            </a:pPr>
            <a:endParaRPr lang="en-US" sz="1600" dirty="0">
              <a:solidFill>
                <a:schemeClr val="tx1"/>
              </a:solidFill>
              <a:latin typeface="+mj-lt"/>
            </a:endParaRPr>
          </a:p>
        </p:txBody>
      </p:sp>
      <p:pic>
        <p:nvPicPr>
          <p:cNvPr id="8" name="Content Placeholder 7">
            <a:extLst>
              <a:ext uri="{FF2B5EF4-FFF2-40B4-BE49-F238E27FC236}">
                <a16:creationId xmlns:a16="http://schemas.microsoft.com/office/drawing/2014/main" id="{0B0C200E-90AB-6371-B67C-4353AC1E2572}"/>
              </a:ext>
            </a:extLst>
          </p:cNvPr>
          <p:cNvPicPr>
            <a:picLocks noGrp="1" noChangeAspect="1"/>
          </p:cNvPicPr>
          <p:nvPr>
            <p:ph sz="half" idx="2"/>
          </p:nvPr>
        </p:nvPicPr>
        <p:blipFill>
          <a:blip r:embed="rId2"/>
          <a:stretch>
            <a:fillRect/>
          </a:stretch>
        </p:blipFill>
        <p:spPr>
          <a:xfrm>
            <a:off x="6324600" y="1981200"/>
            <a:ext cx="4800600" cy="3993207"/>
          </a:xfrm>
        </p:spPr>
      </p:pic>
      <p:pic>
        <p:nvPicPr>
          <p:cNvPr id="6" name="Picture 5">
            <a:extLst>
              <a:ext uri="{FF2B5EF4-FFF2-40B4-BE49-F238E27FC236}">
                <a16:creationId xmlns:a16="http://schemas.microsoft.com/office/drawing/2014/main" id="{E8E0D4C0-B97C-6D6E-A99D-C041B100E0FE}"/>
              </a:ext>
            </a:extLst>
          </p:cNvPr>
          <p:cNvPicPr>
            <a:picLocks noChangeAspect="1"/>
          </p:cNvPicPr>
          <p:nvPr/>
        </p:nvPicPr>
        <p:blipFill>
          <a:blip r:embed="rId3"/>
          <a:stretch>
            <a:fillRect/>
          </a:stretch>
        </p:blipFill>
        <p:spPr>
          <a:xfrm>
            <a:off x="551740" y="3200400"/>
            <a:ext cx="5544260" cy="2590800"/>
          </a:xfrm>
          <a:prstGeom prst="rect">
            <a:avLst/>
          </a:prstGeom>
        </p:spPr>
      </p:pic>
    </p:spTree>
    <p:extLst>
      <p:ext uri="{BB962C8B-B14F-4D97-AF65-F5344CB8AC3E}">
        <p14:creationId xmlns:p14="http://schemas.microsoft.com/office/powerpoint/2010/main" val="143784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011E-3139-8346-1C4E-28338639256A}"/>
              </a:ext>
            </a:extLst>
          </p:cNvPr>
          <p:cNvSpPr>
            <a:spLocks noGrp="1"/>
          </p:cNvSpPr>
          <p:nvPr>
            <p:ph type="title"/>
          </p:nvPr>
        </p:nvSpPr>
        <p:spPr/>
        <p:txBody>
          <a:bodyPr/>
          <a:lstStyle/>
          <a:p>
            <a:r>
              <a:rPr lang="en-US" b="0" i="0" dirty="0">
                <a:solidFill>
                  <a:srgbClr val="E3E3E3"/>
                </a:solidFill>
                <a:effectLst/>
                <a:latin typeface="Roboto" panose="02000000000000000000" pitchFamily="2" charset="0"/>
              </a:rPr>
              <a:t>Scatter Plot of Age, Cholesterol and Sex</a:t>
            </a:r>
            <a:endParaRPr lang="en-US" dirty="0"/>
          </a:p>
        </p:txBody>
      </p:sp>
      <p:sp>
        <p:nvSpPr>
          <p:cNvPr id="3" name="Content Placeholder 2">
            <a:extLst>
              <a:ext uri="{FF2B5EF4-FFF2-40B4-BE49-F238E27FC236}">
                <a16:creationId xmlns:a16="http://schemas.microsoft.com/office/drawing/2014/main" id="{036B8225-6806-DE75-7299-67CC7A06F24A}"/>
              </a:ext>
            </a:extLst>
          </p:cNvPr>
          <p:cNvSpPr>
            <a:spLocks noGrp="1"/>
          </p:cNvSpPr>
          <p:nvPr>
            <p:ph sz="half" idx="1"/>
          </p:nvPr>
        </p:nvSpPr>
        <p:spPr/>
        <p:txBody>
          <a:bodyPr>
            <a:normAutofit/>
          </a:bodyPr>
          <a:lstStyle/>
          <a:p>
            <a:pPr marL="0" indent="0">
              <a:buNone/>
            </a:pPr>
            <a:r>
              <a:rPr lang="en-US" sz="1800" b="0" i="0" dirty="0">
                <a:solidFill>
                  <a:schemeClr val="tx1"/>
                </a:solidFill>
                <a:effectLst/>
                <a:latin typeface="+mj-lt"/>
              </a:rPr>
              <a:t>The scatter plot depicts the relationship between age and cholesterol levels, with gender distinguished by color. plot helps to visualize patterns or trends in age and cholesterol levels vary across genders.</a:t>
            </a:r>
          </a:p>
          <a:p>
            <a:pPr marL="0" indent="0">
              <a:buNone/>
            </a:pPr>
            <a:endParaRPr lang="en-US" sz="1800" dirty="0">
              <a:solidFill>
                <a:schemeClr val="tx1"/>
              </a:solidFill>
              <a:latin typeface="+mj-lt"/>
            </a:endParaRPr>
          </a:p>
        </p:txBody>
      </p:sp>
      <p:pic>
        <p:nvPicPr>
          <p:cNvPr id="8" name="Content Placeholder 7">
            <a:extLst>
              <a:ext uri="{FF2B5EF4-FFF2-40B4-BE49-F238E27FC236}">
                <a16:creationId xmlns:a16="http://schemas.microsoft.com/office/drawing/2014/main" id="{2C0D39E1-6F96-618B-C619-601A33CAAB47}"/>
              </a:ext>
            </a:extLst>
          </p:cNvPr>
          <p:cNvPicPr>
            <a:picLocks noGrp="1" noChangeAspect="1"/>
          </p:cNvPicPr>
          <p:nvPr>
            <p:ph sz="half" idx="2"/>
          </p:nvPr>
        </p:nvPicPr>
        <p:blipFill>
          <a:blip r:embed="rId2"/>
          <a:stretch>
            <a:fillRect/>
          </a:stretch>
        </p:blipFill>
        <p:spPr>
          <a:xfrm>
            <a:off x="6324600" y="2209800"/>
            <a:ext cx="4953000" cy="3657600"/>
          </a:xfrm>
        </p:spPr>
      </p:pic>
      <p:pic>
        <p:nvPicPr>
          <p:cNvPr id="6" name="Picture 5">
            <a:extLst>
              <a:ext uri="{FF2B5EF4-FFF2-40B4-BE49-F238E27FC236}">
                <a16:creationId xmlns:a16="http://schemas.microsoft.com/office/drawing/2014/main" id="{12BDCB34-B2FA-8758-C1BA-4F9E6129AE43}"/>
              </a:ext>
            </a:extLst>
          </p:cNvPr>
          <p:cNvPicPr>
            <a:picLocks noChangeAspect="1"/>
          </p:cNvPicPr>
          <p:nvPr/>
        </p:nvPicPr>
        <p:blipFill>
          <a:blip r:embed="rId3"/>
          <a:stretch>
            <a:fillRect/>
          </a:stretch>
        </p:blipFill>
        <p:spPr>
          <a:xfrm>
            <a:off x="381000" y="3429000"/>
            <a:ext cx="5562600" cy="2438400"/>
          </a:xfrm>
          <a:prstGeom prst="rect">
            <a:avLst/>
          </a:prstGeom>
        </p:spPr>
      </p:pic>
    </p:spTree>
    <p:extLst>
      <p:ext uri="{BB962C8B-B14F-4D97-AF65-F5344CB8AC3E}">
        <p14:creationId xmlns:p14="http://schemas.microsoft.com/office/powerpoint/2010/main" val="1083991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8D222-37BE-B59F-D451-B0CCBA2F2211}"/>
              </a:ext>
            </a:extLst>
          </p:cNvPr>
          <p:cNvSpPr>
            <a:spLocks noGrp="1"/>
          </p:cNvSpPr>
          <p:nvPr>
            <p:ph idx="1"/>
          </p:nvPr>
        </p:nvSpPr>
        <p:spPr/>
        <p:txBody>
          <a:bodyPr>
            <a:normAutofit/>
          </a:bodyPr>
          <a:lstStyle/>
          <a:p>
            <a:pPr marL="0" indent="0">
              <a:buNone/>
            </a:pPr>
            <a:r>
              <a:rPr lang="en-US" sz="2000" b="0" i="0" dirty="0">
                <a:solidFill>
                  <a:schemeClr val="accent1"/>
                </a:solidFill>
                <a:effectLst/>
                <a:latin typeface="+mj-lt"/>
              </a:rPr>
              <a:t>Classifiers to predict the target feature:</a:t>
            </a:r>
            <a:endParaRPr lang="en-US" sz="2000" dirty="0">
              <a:solidFill>
                <a:schemeClr val="accent1"/>
              </a:solidFill>
              <a:latin typeface="+mj-lt"/>
            </a:endParaRPr>
          </a:p>
          <a:p>
            <a:pPr algn="l">
              <a:buFont typeface="+mj-lt"/>
              <a:buAutoNum type="arabicPeriod"/>
            </a:pPr>
            <a:r>
              <a:rPr lang="en-US" sz="1400" b="0" i="0" dirty="0">
                <a:solidFill>
                  <a:schemeClr val="tx1"/>
                </a:solidFill>
                <a:effectLst/>
                <a:latin typeface="+mj-lt"/>
              </a:rPr>
              <a:t>Support Vector Machine(SVM)</a:t>
            </a:r>
          </a:p>
          <a:p>
            <a:pPr algn="l">
              <a:buFont typeface="+mj-lt"/>
              <a:buAutoNum type="arabicPeriod"/>
            </a:pPr>
            <a:r>
              <a:rPr lang="en-US" sz="1400" b="0" i="0" dirty="0">
                <a:solidFill>
                  <a:schemeClr val="tx1"/>
                </a:solidFill>
                <a:effectLst/>
                <a:latin typeface="+mj-lt"/>
              </a:rPr>
              <a:t>Gradient Boosting Classifier</a:t>
            </a:r>
          </a:p>
          <a:p>
            <a:pPr algn="l">
              <a:buFont typeface="+mj-lt"/>
              <a:buAutoNum type="arabicPeriod"/>
            </a:pPr>
            <a:r>
              <a:rPr lang="en-US" sz="1400" b="0" i="0" dirty="0">
                <a:solidFill>
                  <a:schemeClr val="tx1"/>
                </a:solidFill>
                <a:effectLst/>
                <a:latin typeface="+mj-lt"/>
              </a:rPr>
              <a:t>Random Forest Classifier</a:t>
            </a:r>
          </a:p>
          <a:p>
            <a:pPr algn="l">
              <a:buFont typeface="+mj-lt"/>
              <a:buAutoNum type="arabicPeriod"/>
            </a:pPr>
            <a:r>
              <a:rPr lang="en-US" sz="1400" b="0" i="0" dirty="0">
                <a:solidFill>
                  <a:schemeClr val="tx1"/>
                </a:solidFill>
                <a:effectLst/>
                <a:latin typeface="+mj-lt"/>
              </a:rPr>
              <a:t>KNN Classifier</a:t>
            </a:r>
          </a:p>
          <a:p>
            <a:pPr algn="l">
              <a:buFont typeface="+mj-lt"/>
              <a:buAutoNum type="arabicPeriod"/>
            </a:pPr>
            <a:r>
              <a:rPr lang="en-US" sz="1400" b="0" i="0" dirty="0">
                <a:solidFill>
                  <a:schemeClr val="tx1"/>
                </a:solidFill>
                <a:effectLst/>
                <a:latin typeface="+mj-lt"/>
              </a:rPr>
              <a:t>Logistic Regression</a:t>
            </a:r>
          </a:p>
          <a:p>
            <a:pPr marL="0" indent="0">
              <a:buNone/>
            </a:pPr>
            <a:endParaRPr lang="en-US" sz="1600" dirty="0">
              <a:solidFill>
                <a:schemeClr val="tx1"/>
              </a:solidFill>
              <a:latin typeface="+mj-lt"/>
            </a:endParaRPr>
          </a:p>
        </p:txBody>
      </p:sp>
    </p:spTree>
    <p:extLst>
      <p:ext uri="{BB962C8B-B14F-4D97-AF65-F5344CB8AC3E}">
        <p14:creationId xmlns:p14="http://schemas.microsoft.com/office/powerpoint/2010/main" val="343469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0EC5-0900-2C66-62BC-32AFD4D88386}"/>
              </a:ext>
            </a:extLst>
          </p:cNvPr>
          <p:cNvSpPr>
            <a:spLocks noGrp="1"/>
          </p:cNvSpPr>
          <p:nvPr>
            <p:ph type="title"/>
          </p:nvPr>
        </p:nvSpPr>
        <p:spPr/>
        <p:txBody>
          <a:bodyPr/>
          <a:lstStyle/>
          <a:p>
            <a:r>
              <a:rPr lang="en-US" b="0" i="0" dirty="0">
                <a:solidFill>
                  <a:srgbClr val="E3E3E3"/>
                </a:solidFill>
                <a:effectLst/>
                <a:latin typeface="Roboto" panose="02000000000000000000" pitchFamily="2" charset="0"/>
              </a:rPr>
              <a:t>Outlier Removal</a:t>
            </a:r>
            <a:endParaRPr lang="en-US" dirty="0"/>
          </a:p>
        </p:txBody>
      </p:sp>
      <p:sp>
        <p:nvSpPr>
          <p:cNvPr id="3" name="Content Placeholder 2">
            <a:extLst>
              <a:ext uri="{FF2B5EF4-FFF2-40B4-BE49-F238E27FC236}">
                <a16:creationId xmlns:a16="http://schemas.microsoft.com/office/drawing/2014/main" id="{10E16FBA-FBC9-014C-E882-CF3C514CE3AF}"/>
              </a:ext>
            </a:extLst>
          </p:cNvPr>
          <p:cNvSpPr>
            <a:spLocks noGrp="1"/>
          </p:cNvSpPr>
          <p:nvPr>
            <p:ph idx="1"/>
          </p:nvPr>
        </p:nvSpPr>
        <p:spPr/>
        <p:txBody>
          <a:bodyPr>
            <a:normAutofit/>
          </a:bodyPr>
          <a:lstStyle/>
          <a:p>
            <a:pPr marL="0" indent="0">
              <a:buNone/>
            </a:pPr>
            <a:r>
              <a:rPr lang="en-US" sz="1800" b="0" i="0" dirty="0">
                <a:solidFill>
                  <a:schemeClr val="tx1"/>
                </a:solidFill>
                <a:effectLst/>
                <a:latin typeface="+mj-lt"/>
              </a:rPr>
              <a:t>The basic requirement for testing the model's performance is that it should be free of outliers to ensure accurate results. Here, we used a basic technique for outlier removal by calculating the interquartile range (IQR), defined as the difference between the third quartile (Q3, 0.75) and the first quartile (Q1, 0.25). Specifically, IQR = Q3 - Q1.</a:t>
            </a:r>
          </a:p>
          <a:p>
            <a:pPr marL="0" indent="0">
              <a:buNone/>
            </a:pPr>
            <a:endParaRPr lang="en-US" sz="1800" dirty="0">
              <a:solidFill>
                <a:schemeClr val="tx1"/>
              </a:solidFill>
              <a:latin typeface="+mj-lt"/>
            </a:endParaRPr>
          </a:p>
        </p:txBody>
      </p:sp>
      <p:pic>
        <p:nvPicPr>
          <p:cNvPr id="5" name="Picture 4">
            <a:extLst>
              <a:ext uri="{FF2B5EF4-FFF2-40B4-BE49-F238E27FC236}">
                <a16:creationId xmlns:a16="http://schemas.microsoft.com/office/drawing/2014/main" id="{5E4602EF-C3E0-454C-5D9C-978D494710F8}"/>
              </a:ext>
            </a:extLst>
          </p:cNvPr>
          <p:cNvPicPr>
            <a:picLocks noChangeAspect="1"/>
          </p:cNvPicPr>
          <p:nvPr/>
        </p:nvPicPr>
        <p:blipFill>
          <a:blip r:embed="rId2"/>
          <a:stretch>
            <a:fillRect/>
          </a:stretch>
        </p:blipFill>
        <p:spPr>
          <a:xfrm>
            <a:off x="1524000" y="3429000"/>
            <a:ext cx="8926171" cy="1838582"/>
          </a:xfrm>
          <a:prstGeom prst="rect">
            <a:avLst/>
          </a:prstGeom>
        </p:spPr>
      </p:pic>
    </p:spTree>
    <p:extLst>
      <p:ext uri="{BB962C8B-B14F-4D97-AF65-F5344CB8AC3E}">
        <p14:creationId xmlns:p14="http://schemas.microsoft.com/office/powerpoint/2010/main" val="337388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6FA03-0B4D-33D4-4708-E33BD15220B7}"/>
              </a:ext>
            </a:extLst>
          </p:cNvPr>
          <p:cNvSpPr>
            <a:spLocks noGrp="1"/>
          </p:cNvSpPr>
          <p:nvPr>
            <p:ph type="title"/>
          </p:nvPr>
        </p:nvSpPr>
        <p:spPr/>
        <p:txBody>
          <a:bodyPr/>
          <a:lstStyle/>
          <a:p>
            <a:r>
              <a:rPr lang="en-US" b="0" i="0" dirty="0">
                <a:solidFill>
                  <a:srgbClr val="E3E3E3"/>
                </a:solidFill>
                <a:effectLst/>
                <a:latin typeface="Roboto" panose="02000000000000000000" pitchFamily="2" charset="0"/>
              </a:rPr>
              <a:t>Predictive Modelling</a:t>
            </a:r>
            <a:endParaRPr lang="en-US" dirty="0"/>
          </a:p>
        </p:txBody>
      </p:sp>
      <p:sp>
        <p:nvSpPr>
          <p:cNvPr id="3" name="Content Placeholder 2">
            <a:extLst>
              <a:ext uri="{FF2B5EF4-FFF2-40B4-BE49-F238E27FC236}">
                <a16:creationId xmlns:a16="http://schemas.microsoft.com/office/drawing/2014/main" id="{0EEFFA74-C20A-66B8-B2C2-CC22DE934239}"/>
              </a:ext>
            </a:extLst>
          </p:cNvPr>
          <p:cNvSpPr>
            <a:spLocks noGrp="1"/>
          </p:cNvSpPr>
          <p:nvPr>
            <p:ph sz="half" idx="1"/>
          </p:nvPr>
        </p:nvSpPr>
        <p:spPr/>
        <p:txBody>
          <a:bodyPr>
            <a:normAutofit/>
          </a:bodyPr>
          <a:lstStyle/>
          <a:p>
            <a:pPr marL="0" indent="0">
              <a:buNone/>
            </a:pPr>
            <a:r>
              <a:rPr lang="en-US" sz="1600" b="0" i="0" dirty="0">
                <a:solidFill>
                  <a:schemeClr val="tx1"/>
                </a:solidFill>
                <a:effectLst/>
                <a:latin typeface="+mj-lt"/>
              </a:rPr>
              <a:t>The primary requirement for a machine learning model is that it can only process numerical values, not categorical data. Therefore, it is necessary to perform one-hot encoding to convert categorical features into binary values. This ensures that each category has a distinct representation, enabling the algorithm to make accurate predictions. This transformation can be achieved using the </a:t>
            </a:r>
            <a:r>
              <a:rPr lang="en-US" sz="1600" b="0" i="0" dirty="0" err="1">
                <a:solidFill>
                  <a:schemeClr val="tx1"/>
                </a:solidFill>
                <a:effectLst/>
                <a:latin typeface="+mj-lt"/>
              </a:rPr>
              <a:t>get_dummies</a:t>
            </a:r>
            <a:r>
              <a:rPr lang="en-US" sz="1600" b="0" i="0" dirty="0">
                <a:solidFill>
                  <a:schemeClr val="tx1"/>
                </a:solidFill>
                <a:effectLst/>
                <a:latin typeface="+mj-lt"/>
              </a:rPr>
              <a:t> function from the pandas library.</a:t>
            </a:r>
          </a:p>
          <a:p>
            <a:pPr marL="0" indent="0">
              <a:buNone/>
            </a:pPr>
            <a:endParaRPr lang="en-US" sz="1600" dirty="0">
              <a:solidFill>
                <a:schemeClr val="tx1"/>
              </a:solidFill>
              <a:latin typeface="+mj-lt"/>
            </a:endParaRPr>
          </a:p>
        </p:txBody>
      </p:sp>
      <p:pic>
        <p:nvPicPr>
          <p:cNvPr id="8" name="Content Placeholder 7">
            <a:extLst>
              <a:ext uri="{FF2B5EF4-FFF2-40B4-BE49-F238E27FC236}">
                <a16:creationId xmlns:a16="http://schemas.microsoft.com/office/drawing/2014/main" id="{2E3D8D36-667A-61AC-C266-28C5356DBF5B}"/>
              </a:ext>
            </a:extLst>
          </p:cNvPr>
          <p:cNvPicPr>
            <a:picLocks noGrp="1" noChangeAspect="1"/>
          </p:cNvPicPr>
          <p:nvPr>
            <p:ph sz="half" idx="2"/>
          </p:nvPr>
        </p:nvPicPr>
        <p:blipFill>
          <a:blip r:embed="rId2"/>
          <a:stretch>
            <a:fillRect/>
          </a:stretch>
        </p:blipFill>
        <p:spPr>
          <a:xfrm>
            <a:off x="6324599" y="2714172"/>
            <a:ext cx="5449827" cy="2391228"/>
          </a:xfrm>
        </p:spPr>
      </p:pic>
      <p:pic>
        <p:nvPicPr>
          <p:cNvPr id="6" name="Picture 5">
            <a:extLst>
              <a:ext uri="{FF2B5EF4-FFF2-40B4-BE49-F238E27FC236}">
                <a16:creationId xmlns:a16="http://schemas.microsoft.com/office/drawing/2014/main" id="{35D30DB4-1A64-EB5E-32D5-43CE9A9F747E}"/>
              </a:ext>
            </a:extLst>
          </p:cNvPr>
          <p:cNvPicPr>
            <a:picLocks noChangeAspect="1"/>
          </p:cNvPicPr>
          <p:nvPr/>
        </p:nvPicPr>
        <p:blipFill>
          <a:blip r:embed="rId3"/>
          <a:stretch>
            <a:fillRect/>
          </a:stretch>
        </p:blipFill>
        <p:spPr>
          <a:xfrm>
            <a:off x="753477" y="4115568"/>
            <a:ext cx="5124921" cy="1325562"/>
          </a:xfrm>
          <a:prstGeom prst="rect">
            <a:avLst/>
          </a:prstGeom>
        </p:spPr>
      </p:pic>
    </p:spTree>
    <p:extLst>
      <p:ext uri="{BB962C8B-B14F-4D97-AF65-F5344CB8AC3E}">
        <p14:creationId xmlns:p14="http://schemas.microsoft.com/office/powerpoint/2010/main" val="409668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5B2C-26E1-C808-09D0-07EB9D1356D0}"/>
              </a:ext>
            </a:extLst>
          </p:cNvPr>
          <p:cNvSpPr>
            <a:spLocks noGrp="1"/>
          </p:cNvSpPr>
          <p:nvPr>
            <p:ph type="title"/>
          </p:nvPr>
        </p:nvSpPr>
        <p:spPr/>
        <p:txBody>
          <a:bodyPr/>
          <a:lstStyle/>
          <a:p>
            <a:r>
              <a:rPr lang="en-US" b="0" i="0" dirty="0">
                <a:solidFill>
                  <a:srgbClr val="E3E3E3"/>
                </a:solidFill>
                <a:effectLst/>
                <a:latin typeface="Roboto" panose="02000000000000000000" pitchFamily="2" charset="0"/>
              </a:rPr>
              <a:t>Target Variable Encoding</a:t>
            </a:r>
            <a:endParaRPr lang="en-US" dirty="0"/>
          </a:p>
        </p:txBody>
      </p:sp>
      <p:sp>
        <p:nvSpPr>
          <p:cNvPr id="3" name="Content Placeholder 2">
            <a:extLst>
              <a:ext uri="{FF2B5EF4-FFF2-40B4-BE49-F238E27FC236}">
                <a16:creationId xmlns:a16="http://schemas.microsoft.com/office/drawing/2014/main" id="{3829DD94-B222-7096-089E-1E5D46F5B1B2}"/>
              </a:ext>
            </a:extLst>
          </p:cNvPr>
          <p:cNvSpPr>
            <a:spLocks noGrp="1"/>
          </p:cNvSpPr>
          <p:nvPr>
            <p:ph idx="1"/>
          </p:nvPr>
        </p:nvSpPr>
        <p:spPr/>
        <p:txBody>
          <a:bodyPr>
            <a:normAutofit/>
          </a:bodyPr>
          <a:lstStyle/>
          <a:p>
            <a:pPr marL="0" indent="0">
              <a:buNone/>
            </a:pPr>
            <a:endParaRPr lang="en-US" sz="2000" b="0" i="0" dirty="0">
              <a:solidFill>
                <a:schemeClr val="tx1"/>
              </a:solidFill>
              <a:effectLst/>
              <a:latin typeface="+mj-lt"/>
            </a:endParaRPr>
          </a:p>
          <a:p>
            <a:pPr marL="0" indent="0">
              <a:buNone/>
            </a:pPr>
            <a:r>
              <a:rPr lang="en-US" sz="2000" b="0" i="0" dirty="0">
                <a:solidFill>
                  <a:schemeClr val="tx1"/>
                </a:solidFill>
                <a:effectLst/>
                <a:latin typeface="+mj-lt"/>
              </a:rPr>
              <a:t>The target variable, also known as the dependent variable in the dataset, is used to measure metrics such as accuracy, precision, recall, and F1 score. It represents the outcome that the model predicts. Therefore, we store it separately from the other features to facilitate accurate predictions.</a:t>
            </a:r>
          </a:p>
          <a:p>
            <a:pPr marL="0" indent="0">
              <a:buNone/>
            </a:pPr>
            <a:endParaRPr lang="en-US" sz="2000" dirty="0">
              <a:solidFill>
                <a:schemeClr val="tx1"/>
              </a:solidFill>
              <a:latin typeface="+mj-lt"/>
            </a:endParaRPr>
          </a:p>
        </p:txBody>
      </p:sp>
      <p:pic>
        <p:nvPicPr>
          <p:cNvPr id="5" name="Picture 4">
            <a:extLst>
              <a:ext uri="{FF2B5EF4-FFF2-40B4-BE49-F238E27FC236}">
                <a16:creationId xmlns:a16="http://schemas.microsoft.com/office/drawing/2014/main" id="{63A2ADB4-B354-6578-88B8-80E538A68B5C}"/>
              </a:ext>
            </a:extLst>
          </p:cNvPr>
          <p:cNvPicPr>
            <a:picLocks noChangeAspect="1"/>
          </p:cNvPicPr>
          <p:nvPr/>
        </p:nvPicPr>
        <p:blipFill>
          <a:blip r:embed="rId2"/>
          <a:stretch>
            <a:fillRect/>
          </a:stretch>
        </p:blipFill>
        <p:spPr>
          <a:xfrm>
            <a:off x="3733800" y="4110871"/>
            <a:ext cx="4391638" cy="743054"/>
          </a:xfrm>
          <a:prstGeom prst="rect">
            <a:avLst/>
          </a:prstGeom>
        </p:spPr>
      </p:pic>
    </p:spTree>
    <p:extLst>
      <p:ext uri="{BB962C8B-B14F-4D97-AF65-F5344CB8AC3E}">
        <p14:creationId xmlns:p14="http://schemas.microsoft.com/office/powerpoint/2010/main" val="69063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DB94D-5FA2-8B5C-71BC-CB79AAF95AC5}"/>
              </a:ext>
            </a:extLst>
          </p:cNvPr>
          <p:cNvSpPr>
            <a:spLocks noGrp="1"/>
          </p:cNvSpPr>
          <p:nvPr>
            <p:ph type="title"/>
          </p:nvPr>
        </p:nvSpPr>
        <p:spPr>
          <a:xfrm>
            <a:off x="990600" y="514122"/>
            <a:ext cx="10058400" cy="1325563"/>
          </a:xfrm>
        </p:spPr>
        <p:txBody>
          <a:bodyPr>
            <a:normAutofit fontScale="90000"/>
          </a:bodyPr>
          <a:lstStyle/>
          <a:p>
            <a:r>
              <a:rPr lang="en-US" sz="4000" b="0" i="0" dirty="0">
                <a:effectLst/>
                <a:latin typeface="Roboto" panose="02000000000000000000" pitchFamily="2" charset="0"/>
              </a:rPr>
              <a:t>Splitting Data in Train and Test</a:t>
            </a:r>
            <a:br>
              <a:rPr lang="en-US" b="0" i="0" dirty="0">
                <a:solidFill>
                  <a:srgbClr val="1F1F1F"/>
                </a:solidFill>
                <a:effectLst/>
                <a:highlight>
                  <a:srgbClr val="FFFFFF"/>
                </a:highlight>
                <a:latin typeface="Roboto" panose="02000000000000000000" pitchFamily="2" charset="0"/>
              </a:rPr>
            </a:br>
            <a:br>
              <a:rPr lang="en-US" b="0" i="0" dirty="0">
                <a:solidFill>
                  <a:srgbClr val="1F1F1F"/>
                </a:solidFill>
                <a:effectLst/>
                <a:highlight>
                  <a:srgbClr val="FFFFFF"/>
                </a:highlight>
                <a:latin typeface="Roboto" panose="02000000000000000000" pitchFamily="2" charset="0"/>
              </a:rPr>
            </a:br>
            <a:endParaRPr lang="en-IN" dirty="0"/>
          </a:p>
        </p:txBody>
      </p:sp>
      <p:sp>
        <p:nvSpPr>
          <p:cNvPr id="7" name="TextBox 6">
            <a:extLst>
              <a:ext uri="{FF2B5EF4-FFF2-40B4-BE49-F238E27FC236}">
                <a16:creationId xmlns:a16="http://schemas.microsoft.com/office/drawing/2014/main" id="{3EBC263D-BEC7-FCEC-3C52-86AAB97CF0D3}"/>
              </a:ext>
            </a:extLst>
          </p:cNvPr>
          <p:cNvSpPr txBox="1"/>
          <p:nvPr/>
        </p:nvSpPr>
        <p:spPr>
          <a:xfrm>
            <a:off x="1662866" y="2514600"/>
            <a:ext cx="8866267" cy="1477328"/>
          </a:xfrm>
          <a:prstGeom prst="rect">
            <a:avLst/>
          </a:prstGeom>
          <a:noFill/>
        </p:spPr>
        <p:txBody>
          <a:bodyPr wrap="square">
            <a:spAutoFit/>
          </a:bodyPr>
          <a:lstStyle/>
          <a:p>
            <a:pPr algn="just">
              <a:lnSpc>
                <a:spcPct val="90000"/>
              </a:lnSpc>
              <a:spcBef>
                <a:spcPts val="1800"/>
              </a:spcBef>
              <a:buSzPct val="100000"/>
            </a:pPr>
            <a:r>
              <a:rPr lang="en-US" sz="2000" dirty="0">
                <a:latin typeface="+mj-lt"/>
              </a:rPr>
              <a:t>we split the data into training and testing sets to evaluate the model's performance on new, unseen data. Here, the '</a:t>
            </a:r>
            <a:r>
              <a:rPr lang="en-US" sz="2000" dirty="0" err="1">
                <a:latin typeface="+mj-lt"/>
              </a:rPr>
              <a:t>test_size</a:t>
            </a:r>
            <a:r>
              <a:rPr lang="en-US" sz="2000" dirty="0">
                <a:latin typeface="+mj-lt"/>
              </a:rPr>
              <a:t>" is set to 0.3, which means 30% of the data is used for testing and 70% for training. The '</a:t>
            </a:r>
            <a:r>
              <a:rPr lang="en-US" sz="2000" dirty="0" err="1">
                <a:latin typeface="+mj-lt"/>
              </a:rPr>
              <a:t>random_state</a:t>
            </a:r>
            <a:r>
              <a:rPr lang="en-US" sz="2000" dirty="0">
                <a:latin typeface="+mj-lt"/>
              </a:rPr>
              <a:t>', set to 66, specifies the random seed value used to ensure reproducibility of the data splitting process</a:t>
            </a:r>
            <a:endParaRPr lang="en-IN" sz="2000" dirty="0">
              <a:latin typeface="+mj-lt"/>
            </a:endParaRPr>
          </a:p>
        </p:txBody>
      </p:sp>
      <p:pic>
        <p:nvPicPr>
          <p:cNvPr id="11" name="Picture 10">
            <a:extLst>
              <a:ext uri="{FF2B5EF4-FFF2-40B4-BE49-F238E27FC236}">
                <a16:creationId xmlns:a16="http://schemas.microsoft.com/office/drawing/2014/main" id="{15FA20F2-3C2A-03E5-1D29-386F23BCD7C1}"/>
              </a:ext>
            </a:extLst>
          </p:cNvPr>
          <p:cNvPicPr>
            <a:picLocks noChangeAspect="1"/>
          </p:cNvPicPr>
          <p:nvPr/>
        </p:nvPicPr>
        <p:blipFill>
          <a:blip r:embed="rId2"/>
          <a:stretch>
            <a:fillRect/>
          </a:stretch>
        </p:blipFill>
        <p:spPr>
          <a:xfrm>
            <a:off x="1586666" y="4894883"/>
            <a:ext cx="8866267" cy="449386"/>
          </a:xfrm>
          <a:prstGeom prst="rect">
            <a:avLst/>
          </a:prstGeom>
        </p:spPr>
      </p:pic>
    </p:spTree>
    <p:extLst>
      <p:ext uri="{BB962C8B-B14F-4D97-AF65-F5344CB8AC3E}">
        <p14:creationId xmlns:p14="http://schemas.microsoft.com/office/powerpoint/2010/main" val="2719277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AEDB-274E-0A97-482B-9F451824CE24}"/>
              </a:ext>
            </a:extLst>
          </p:cNvPr>
          <p:cNvSpPr>
            <a:spLocks noGrp="1"/>
          </p:cNvSpPr>
          <p:nvPr>
            <p:ph type="title"/>
          </p:nvPr>
        </p:nvSpPr>
        <p:spPr>
          <a:xfrm>
            <a:off x="990600" y="152400"/>
            <a:ext cx="10058400" cy="1325563"/>
          </a:xfrm>
        </p:spPr>
        <p:txBody>
          <a:bodyPr/>
          <a:lstStyle/>
          <a:p>
            <a:r>
              <a:rPr lang="en-US"/>
              <a:t>Feature Scaling</a:t>
            </a:r>
            <a:endParaRPr lang="en-IN" dirty="0"/>
          </a:p>
        </p:txBody>
      </p:sp>
      <p:pic>
        <p:nvPicPr>
          <p:cNvPr id="5" name="Picture 4">
            <a:extLst>
              <a:ext uri="{FF2B5EF4-FFF2-40B4-BE49-F238E27FC236}">
                <a16:creationId xmlns:a16="http://schemas.microsoft.com/office/drawing/2014/main" id="{65794068-105A-EB97-CE8A-BC2F24EED429}"/>
              </a:ext>
            </a:extLst>
          </p:cNvPr>
          <p:cNvPicPr>
            <a:picLocks noChangeAspect="1"/>
          </p:cNvPicPr>
          <p:nvPr/>
        </p:nvPicPr>
        <p:blipFill>
          <a:blip r:embed="rId2"/>
          <a:stretch>
            <a:fillRect/>
          </a:stretch>
        </p:blipFill>
        <p:spPr>
          <a:xfrm>
            <a:off x="1752600" y="3962400"/>
            <a:ext cx="8610600" cy="1546394"/>
          </a:xfrm>
          <a:prstGeom prst="rect">
            <a:avLst/>
          </a:prstGeom>
        </p:spPr>
      </p:pic>
      <p:sp>
        <p:nvSpPr>
          <p:cNvPr id="7" name="TextBox 6">
            <a:extLst>
              <a:ext uri="{FF2B5EF4-FFF2-40B4-BE49-F238E27FC236}">
                <a16:creationId xmlns:a16="http://schemas.microsoft.com/office/drawing/2014/main" id="{6A8381A0-D83C-E348-A9E4-9613B76BC725}"/>
              </a:ext>
            </a:extLst>
          </p:cNvPr>
          <p:cNvSpPr txBox="1"/>
          <p:nvPr/>
        </p:nvSpPr>
        <p:spPr>
          <a:xfrm>
            <a:off x="647700" y="2234121"/>
            <a:ext cx="10896600" cy="1015663"/>
          </a:xfrm>
          <a:prstGeom prst="rect">
            <a:avLst/>
          </a:prstGeom>
          <a:noFill/>
        </p:spPr>
        <p:txBody>
          <a:bodyPr wrap="square">
            <a:spAutoFit/>
          </a:bodyPr>
          <a:lstStyle/>
          <a:p>
            <a:pPr algn="just"/>
            <a:r>
              <a:rPr lang="en-US" sz="2000" dirty="0">
                <a:latin typeface="+mj-lt"/>
              </a:rPr>
              <a:t>Feature scaling is necessary because features often have numerical values measured on different scales, which can adversely affect the model's performance. To avoid any misleading influences from features with larger numerical ranges, we need to scale them to a certain level.</a:t>
            </a:r>
            <a:endParaRPr lang="en-IN" sz="2000" dirty="0">
              <a:latin typeface="+mj-lt"/>
            </a:endParaRPr>
          </a:p>
        </p:txBody>
      </p:sp>
    </p:spTree>
    <p:extLst>
      <p:ext uri="{BB962C8B-B14F-4D97-AF65-F5344CB8AC3E}">
        <p14:creationId xmlns:p14="http://schemas.microsoft.com/office/powerpoint/2010/main" val="1658041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E8A19-F51F-1408-3076-1E12A42D9019}"/>
              </a:ext>
            </a:extLst>
          </p:cNvPr>
          <p:cNvSpPr>
            <a:spLocks noGrp="1"/>
          </p:cNvSpPr>
          <p:nvPr>
            <p:ph type="title"/>
          </p:nvPr>
        </p:nvSpPr>
        <p:spPr/>
        <p:txBody>
          <a:bodyPr/>
          <a:lstStyle/>
          <a:p>
            <a:r>
              <a:rPr lang="en-US" dirty="0"/>
              <a:t>Feature Selection</a:t>
            </a:r>
            <a:endParaRPr lang="en-IN" dirty="0"/>
          </a:p>
        </p:txBody>
      </p:sp>
      <p:pic>
        <p:nvPicPr>
          <p:cNvPr id="5" name="Picture 4">
            <a:extLst>
              <a:ext uri="{FF2B5EF4-FFF2-40B4-BE49-F238E27FC236}">
                <a16:creationId xmlns:a16="http://schemas.microsoft.com/office/drawing/2014/main" id="{D35930C3-81A5-573F-020B-814D38CC5B9A}"/>
              </a:ext>
            </a:extLst>
          </p:cNvPr>
          <p:cNvPicPr>
            <a:picLocks noChangeAspect="1"/>
          </p:cNvPicPr>
          <p:nvPr/>
        </p:nvPicPr>
        <p:blipFill>
          <a:blip r:embed="rId2"/>
          <a:stretch>
            <a:fillRect/>
          </a:stretch>
        </p:blipFill>
        <p:spPr>
          <a:xfrm>
            <a:off x="2362200" y="4165856"/>
            <a:ext cx="7621245" cy="1184289"/>
          </a:xfrm>
          <a:prstGeom prst="rect">
            <a:avLst/>
          </a:prstGeom>
        </p:spPr>
      </p:pic>
      <p:sp>
        <p:nvSpPr>
          <p:cNvPr id="7" name="TextBox 6">
            <a:extLst>
              <a:ext uri="{FF2B5EF4-FFF2-40B4-BE49-F238E27FC236}">
                <a16:creationId xmlns:a16="http://schemas.microsoft.com/office/drawing/2014/main" id="{9DB5F091-FC9C-B24D-3793-2E618EC47EF0}"/>
              </a:ext>
            </a:extLst>
          </p:cNvPr>
          <p:cNvSpPr txBox="1"/>
          <p:nvPr/>
        </p:nvSpPr>
        <p:spPr>
          <a:xfrm>
            <a:off x="914400" y="2133600"/>
            <a:ext cx="10363200" cy="1323439"/>
          </a:xfrm>
          <a:prstGeom prst="rect">
            <a:avLst/>
          </a:prstGeom>
          <a:noFill/>
        </p:spPr>
        <p:txBody>
          <a:bodyPr wrap="square">
            <a:spAutoFit/>
          </a:bodyPr>
          <a:lstStyle/>
          <a:p>
            <a:pPr algn="just"/>
            <a:r>
              <a:rPr lang="en-US" sz="2000" dirty="0">
                <a:latin typeface="+mj-lt"/>
              </a:rPr>
              <a:t>We have selected the 9 features because limiting the features will help simplify the model and make it less prone to overfitting. By focusing on the top 9 features, it will be easier to determine which number of features works best with each classifier. We used the Chi-Square test to evaluate the independence of the features with respect to the target variable. </a:t>
            </a:r>
            <a:endParaRPr lang="en-IN" sz="2000" dirty="0">
              <a:latin typeface="+mj-lt"/>
            </a:endParaRPr>
          </a:p>
        </p:txBody>
      </p:sp>
    </p:spTree>
    <p:extLst>
      <p:ext uri="{BB962C8B-B14F-4D97-AF65-F5344CB8AC3E}">
        <p14:creationId xmlns:p14="http://schemas.microsoft.com/office/powerpoint/2010/main" val="2386752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CC7F-F90A-58F9-4DA8-8FE2E9BA5C46}"/>
              </a:ext>
            </a:extLst>
          </p:cNvPr>
          <p:cNvSpPr>
            <a:spLocks noGrp="1"/>
          </p:cNvSpPr>
          <p:nvPr>
            <p:ph type="title"/>
          </p:nvPr>
        </p:nvSpPr>
        <p:spPr/>
        <p:txBody>
          <a:bodyPr/>
          <a:lstStyle/>
          <a:p>
            <a:r>
              <a:rPr lang="en-US" dirty="0"/>
              <a:t>Model 1 – Support vector Machine</a:t>
            </a:r>
            <a:endParaRPr lang="en-IN" dirty="0"/>
          </a:p>
        </p:txBody>
      </p:sp>
      <p:pic>
        <p:nvPicPr>
          <p:cNvPr id="9" name="Picture 8">
            <a:extLst>
              <a:ext uri="{FF2B5EF4-FFF2-40B4-BE49-F238E27FC236}">
                <a16:creationId xmlns:a16="http://schemas.microsoft.com/office/drawing/2014/main" id="{A52F3EF9-39E5-57E5-D82A-6B1DB6D78DF4}"/>
              </a:ext>
            </a:extLst>
          </p:cNvPr>
          <p:cNvPicPr>
            <a:picLocks noChangeAspect="1"/>
          </p:cNvPicPr>
          <p:nvPr/>
        </p:nvPicPr>
        <p:blipFill>
          <a:blip r:embed="rId2"/>
          <a:stretch>
            <a:fillRect/>
          </a:stretch>
        </p:blipFill>
        <p:spPr>
          <a:xfrm>
            <a:off x="990600" y="2971800"/>
            <a:ext cx="9360381" cy="3714941"/>
          </a:xfrm>
          <a:prstGeom prst="rect">
            <a:avLst/>
          </a:prstGeom>
        </p:spPr>
      </p:pic>
      <p:sp>
        <p:nvSpPr>
          <p:cNvPr id="11" name="TextBox 10">
            <a:extLst>
              <a:ext uri="{FF2B5EF4-FFF2-40B4-BE49-F238E27FC236}">
                <a16:creationId xmlns:a16="http://schemas.microsoft.com/office/drawing/2014/main" id="{1C086593-749E-DBAE-63ED-290E3DA426A4}"/>
              </a:ext>
            </a:extLst>
          </p:cNvPr>
          <p:cNvSpPr txBox="1"/>
          <p:nvPr/>
        </p:nvSpPr>
        <p:spPr>
          <a:xfrm>
            <a:off x="1524000" y="1690460"/>
            <a:ext cx="7467600" cy="1015663"/>
          </a:xfrm>
          <a:prstGeom prst="rect">
            <a:avLst/>
          </a:prstGeom>
          <a:noFill/>
        </p:spPr>
        <p:txBody>
          <a:bodyPr wrap="square">
            <a:spAutoFit/>
          </a:bodyPr>
          <a:lstStyle/>
          <a:p>
            <a:r>
              <a:rPr lang="en-US" sz="2000" dirty="0">
                <a:latin typeface="+mj-lt"/>
              </a:rPr>
              <a:t>Best parameters: {'C': 1, 'gamma': 0.1, 'kernel': '</a:t>
            </a:r>
            <a:r>
              <a:rPr lang="en-US" sz="2000" dirty="0" err="1">
                <a:latin typeface="+mj-lt"/>
              </a:rPr>
              <a:t>rbf</a:t>
            </a:r>
            <a:r>
              <a:rPr lang="en-US" sz="2000" dirty="0">
                <a:latin typeface="+mj-lt"/>
              </a:rPr>
              <a:t>’} </a:t>
            </a:r>
          </a:p>
          <a:p>
            <a:endParaRPr lang="en-US" sz="2000" dirty="0">
              <a:latin typeface="+mj-lt"/>
            </a:endParaRPr>
          </a:p>
          <a:p>
            <a:r>
              <a:rPr lang="en-US" sz="2000" dirty="0">
                <a:latin typeface="+mj-lt"/>
              </a:rPr>
              <a:t>Cross-validation accuracy score for 5 folds: 0.8571815718157183</a:t>
            </a:r>
            <a:endParaRPr lang="en-IN" sz="2000" dirty="0">
              <a:latin typeface="+mj-lt"/>
            </a:endParaRPr>
          </a:p>
        </p:txBody>
      </p:sp>
    </p:spTree>
    <p:extLst>
      <p:ext uri="{BB962C8B-B14F-4D97-AF65-F5344CB8AC3E}">
        <p14:creationId xmlns:p14="http://schemas.microsoft.com/office/powerpoint/2010/main" val="320787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773EC-E16D-E8CB-A420-D35807A1CE67}"/>
              </a:ext>
            </a:extLst>
          </p:cNvPr>
          <p:cNvSpPr>
            <a:spLocks noGrp="1"/>
          </p:cNvSpPr>
          <p:nvPr>
            <p:ph type="title"/>
          </p:nvPr>
        </p:nvSpPr>
        <p:spPr/>
        <p:txBody>
          <a:bodyPr/>
          <a:lstStyle/>
          <a:p>
            <a:r>
              <a:rPr lang="en-US" dirty="0"/>
              <a:t>Gradient Boosting Classifier</a:t>
            </a:r>
            <a:endParaRPr lang="en-IN" dirty="0"/>
          </a:p>
        </p:txBody>
      </p:sp>
      <p:pic>
        <p:nvPicPr>
          <p:cNvPr id="5" name="Picture 4">
            <a:extLst>
              <a:ext uri="{FF2B5EF4-FFF2-40B4-BE49-F238E27FC236}">
                <a16:creationId xmlns:a16="http://schemas.microsoft.com/office/drawing/2014/main" id="{42C74695-C313-A65A-903D-35CBE2E20F77}"/>
              </a:ext>
            </a:extLst>
          </p:cNvPr>
          <p:cNvPicPr>
            <a:picLocks noChangeAspect="1"/>
          </p:cNvPicPr>
          <p:nvPr/>
        </p:nvPicPr>
        <p:blipFill>
          <a:blip r:embed="rId2"/>
          <a:stretch>
            <a:fillRect/>
          </a:stretch>
        </p:blipFill>
        <p:spPr>
          <a:xfrm>
            <a:off x="1143000" y="3075591"/>
            <a:ext cx="9379432" cy="3683189"/>
          </a:xfrm>
          <a:prstGeom prst="rect">
            <a:avLst/>
          </a:prstGeom>
        </p:spPr>
      </p:pic>
      <p:sp>
        <p:nvSpPr>
          <p:cNvPr id="7" name="TextBox 6">
            <a:extLst>
              <a:ext uri="{FF2B5EF4-FFF2-40B4-BE49-F238E27FC236}">
                <a16:creationId xmlns:a16="http://schemas.microsoft.com/office/drawing/2014/main" id="{5EE941C7-36E6-5097-FC5D-F5ADB03CC1A8}"/>
              </a:ext>
            </a:extLst>
          </p:cNvPr>
          <p:cNvSpPr txBox="1"/>
          <p:nvPr/>
        </p:nvSpPr>
        <p:spPr>
          <a:xfrm>
            <a:off x="1143000" y="1764126"/>
            <a:ext cx="8686800" cy="1015663"/>
          </a:xfrm>
          <a:prstGeom prst="rect">
            <a:avLst/>
          </a:prstGeom>
          <a:noFill/>
        </p:spPr>
        <p:txBody>
          <a:bodyPr wrap="square">
            <a:spAutoFit/>
          </a:bodyPr>
          <a:lstStyle/>
          <a:p>
            <a:r>
              <a:rPr lang="en-IN" sz="2000" dirty="0">
                <a:latin typeface="+mj-lt"/>
              </a:rPr>
              <a:t>Best parameters: {'</a:t>
            </a:r>
            <a:r>
              <a:rPr lang="en-IN" sz="2000" dirty="0" err="1">
                <a:latin typeface="+mj-lt"/>
              </a:rPr>
              <a:t>learning_rate</a:t>
            </a:r>
            <a:r>
              <a:rPr lang="en-IN" sz="2000" dirty="0">
                <a:latin typeface="+mj-lt"/>
              </a:rPr>
              <a:t>': 0.01, '</a:t>
            </a:r>
            <a:r>
              <a:rPr lang="en-IN" sz="2000" dirty="0" err="1">
                <a:latin typeface="+mj-lt"/>
              </a:rPr>
              <a:t>max_depth</a:t>
            </a:r>
            <a:r>
              <a:rPr lang="en-IN" sz="2000" dirty="0">
                <a:latin typeface="+mj-lt"/>
              </a:rPr>
              <a:t>': 3, '</a:t>
            </a:r>
            <a:r>
              <a:rPr lang="en-IN" sz="2000" dirty="0" err="1">
                <a:latin typeface="+mj-lt"/>
              </a:rPr>
              <a:t>n_estimators</a:t>
            </a:r>
            <a:r>
              <a:rPr lang="en-IN" sz="2000" dirty="0">
                <a:latin typeface="+mj-lt"/>
              </a:rPr>
              <a:t>': 200}</a:t>
            </a:r>
          </a:p>
          <a:p>
            <a:r>
              <a:rPr lang="en-IN" sz="2000" dirty="0">
                <a:latin typeface="+mj-lt"/>
              </a:rPr>
              <a:t> </a:t>
            </a:r>
          </a:p>
          <a:p>
            <a:pPr algn="just"/>
            <a:r>
              <a:rPr lang="en-IN" sz="2000" dirty="0">
                <a:latin typeface="+mj-lt"/>
              </a:rPr>
              <a:t>Cross-validation accuracy score for 5 folds: 0.8547726588376996</a:t>
            </a:r>
          </a:p>
        </p:txBody>
      </p:sp>
    </p:spTree>
    <p:extLst>
      <p:ext uri="{BB962C8B-B14F-4D97-AF65-F5344CB8AC3E}">
        <p14:creationId xmlns:p14="http://schemas.microsoft.com/office/powerpoint/2010/main" val="18053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483F9-C11D-37D9-0E2D-EAA19A7568AA}"/>
              </a:ext>
            </a:extLst>
          </p:cNvPr>
          <p:cNvSpPr>
            <a:spLocks noGrp="1"/>
          </p:cNvSpPr>
          <p:nvPr>
            <p:ph type="title"/>
          </p:nvPr>
        </p:nvSpPr>
        <p:spPr/>
        <p:txBody>
          <a:bodyPr/>
          <a:lstStyle/>
          <a:p>
            <a:r>
              <a:rPr lang="en-US" dirty="0"/>
              <a:t>Random Forest Classifier</a:t>
            </a:r>
            <a:endParaRPr lang="en-IN" dirty="0"/>
          </a:p>
        </p:txBody>
      </p:sp>
      <p:pic>
        <p:nvPicPr>
          <p:cNvPr id="5" name="Picture 4">
            <a:extLst>
              <a:ext uri="{FF2B5EF4-FFF2-40B4-BE49-F238E27FC236}">
                <a16:creationId xmlns:a16="http://schemas.microsoft.com/office/drawing/2014/main" id="{2772F959-CA69-E3B4-4EB8-6ACFBC660F24}"/>
              </a:ext>
            </a:extLst>
          </p:cNvPr>
          <p:cNvPicPr>
            <a:picLocks noChangeAspect="1"/>
          </p:cNvPicPr>
          <p:nvPr/>
        </p:nvPicPr>
        <p:blipFill>
          <a:blip r:embed="rId2"/>
          <a:stretch>
            <a:fillRect/>
          </a:stretch>
        </p:blipFill>
        <p:spPr>
          <a:xfrm>
            <a:off x="1066800" y="2971800"/>
            <a:ext cx="9398483" cy="3695890"/>
          </a:xfrm>
          <a:prstGeom prst="rect">
            <a:avLst/>
          </a:prstGeom>
        </p:spPr>
      </p:pic>
      <p:sp>
        <p:nvSpPr>
          <p:cNvPr id="9" name="TextBox 8">
            <a:extLst>
              <a:ext uri="{FF2B5EF4-FFF2-40B4-BE49-F238E27FC236}">
                <a16:creationId xmlns:a16="http://schemas.microsoft.com/office/drawing/2014/main" id="{1E23956D-4A99-DD8A-334D-C79E028EC8AD}"/>
              </a:ext>
            </a:extLst>
          </p:cNvPr>
          <p:cNvSpPr txBox="1"/>
          <p:nvPr/>
        </p:nvSpPr>
        <p:spPr>
          <a:xfrm>
            <a:off x="1066800" y="1803247"/>
            <a:ext cx="9398482" cy="954107"/>
          </a:xfrm>
          <a:prstGeom prst="rect">
            <a:avLst/>
          </a:prstGeom>
          <a:noFill/>
        </p:spPr>
        <p:txBody>
          <a:bodyPr wrap="square">
            <a:spAutoFit/>
          </a:bodyPr>
          <a:lstStyle/>
          <a:p>
            <a:r>
              <a:rPr lang="en-IN" sz="1800" dirty="0">
                <a:latin typeface="+mj-lt"/>
              </a:rPr>
              <a:t>Best </a:t>
            </a:r>
            <a:r>
              <a:rPr lang="en-IN" sz="2000" dirty="0">
                <a:latin typeface="+mj-lt"/>
              </a:rPr>
              <a:t>parameters</a:t>
            </a:r>
            <a:r>
              <a:rPr lang="en-IN" sz="1800" dirty="0">
                <a:latin typeface="+mj-lt"/>
              </a:rPr>
              <a:t>: {'</a:t>
            </a:r>
            <a:r>
              <a:rPr lang="en-IN" sz="1800" dirty="0" err="1">
                <a:latin typeface="+mj-lt"/>
              </a:rPr>
              <a:t>max_depth</a:t>
            </a:r>
            <a:r>
              <a:rPr lang="en-IN" sz="1800" dirty="0">
                <a:latin typeface="+mj-lt"/>
              </a:rPr>
              <a:t>': 10, '</a:t>
            </a:r>
            <a:r>
              <a:rPr lang="en-IN" sz="1800" dirty="0" err="1">
                <a:latin typeface="+mj-lt"/>
              </a:rPr>
              <a:t>max_features</a:t>
            </a:r>
            <a:r>
              <a:rPr lang="en-IN" sz="1800" dirty="0">
                <a:latin typeface="+mj-lt"/>
              </a:rPr>
              <a:t>': 'sqrt', '</a:t>
            </a:r>
            <a:r>
              <a:rPr lang="en-IN" sz="1800" dirty="0" err="1">
                <a:latin typeface="+mj-lt"/>
              </a:rPr>
              <a:t>n_estimators</a:t>
            </a:r>
            <a:r>
              <a:rPr lang="en-IN" sz="1800" dirty="0">
                <a:latin typeface="+mj-lt"/>
              </a:rPr>
              <a:t>': 200} </a:t>
            </a:r>
          </a:p>
          <a:p>
            <a:endParaRPr lang="en-IN" sz="1800" dirty="0">
              <a:latin typeface="+mj-lt"/>
            </a:endParaRPr>
          </a:p>
          <a:p>
            <a:r>
              <a:rPr lang="en-IN" sz="1800" dirty="0">
                <a:latin typeface="+mj-lt"/>
              </a:rPr>
              <a:t>Cross-validation accuracy score for 5 folds: 0.8375188196326407</a:t>
            </a:r>
          </a:p>
        </p:txBody>
      </p:sp>
    </p:spTree>
    <p:extLst>
      <p:ext uri="{BB962C8B-B14F-4D97-AF65-F5344CB8AC3E}">
        <p14:creationId xmlns:p14="http://schemas.microsoft.com/office/powerpoint/2010/main" val="178560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FCC36-6598-D9FD-5723-2749FB8EC425}"/>
              </a:ext>
            </a:extLst>
          </p:cNvPr>
          <p:cNvSpPr>
            <a:spLocks noGrp="1"/>
          </p:cNvSpPr>
          <p:nvPr>
            <p:ph type="title"/>
          </p:nvPr>
        </p:nvSpPr>
        <p:spPr/>
        <p:txBody>
          <a:bodyPr/>
          <a:lstStyle/>
          <a:p>
            <a:r>
              <a:rPr lang="en-US" dirty="0"/>
              <a:t>KNN Classifier</a:t>
            </a:r>
            <a:endParaRPr lang="en-IN" dirty="0"/>
          </a:p>
        </p:txBody>
      </p:sp>
      <p:pic>
        <p:nvPicPr>
          <p:cNvPr id="5" name="Picture 4">
            <a:extLst>
              <a:ext uri="{FF2B5EF4-FFF2-40B4-BE49-F238E27FC236}">
                <a16:creationId xmlns:a16="http://schemas.microsoft.com/office/drawing/2014/main" id="{D29476CF-6B8F-241E-7A4A-DBA50D6AD437}"/>
              </a:ext>
            </a:extLst>
          </p:cNvPr>
          <p:cNvPicPr>
            <a:picLocks noChangeAspect="1"/>
          </p:cNvPicPr>
          <p:nvPr/>
        </p:nvPicPr>
        <p:blipFill>
          <a:blip r:embed="rId2"/>
          <a:stretch>
            <a:fillRect/>
          </a:stretch>
        </p:blipFill>
        <p:spPr>
          <a:xfrm>
            <a:off x="2667000" y="3048000"/>
            <a:ext cx="6401129" cy="3435527"/>
          </a:xfrm>
          <a:prstGeom prst="rect">
            <a:avLst/>
          </a:prstGeom>
        </p:spPr>
      </p:pic>
      <p:sp>
        <p:nvSpPr>
          <p:cNvPr id="7" name="TextBox 6">
            <a:extLst>
              <a:ext uri="{FF2B5EF4-FFF2-40B4-BE49-F238E27FC236}">
                <a16:creationId xmlns:a16="http://schemas.microsoft.com/office/drawing/2014/main" id="{3DDE0894-BE9F-D0C6-5711-B333D0C0C47C}"/>
              </a:ext>
            </a:extLst>
          </p:cNvPr>
          <p:cNvSpPr txBox="1"/>
          <p:nvPr/>
        </p:nvSpPr>
        <p:spPr>
          <a:xfrm>
            <a:off x="2438400" y="1752600"/>
            <a:ext cx="7848600" cy="923330"/>
          </a:xfrm>
          <a:prstGeom prst="rect">
            <a:avLst/>
          </a:prstGeom>
          <a:noFill/>
        </p:spPr>
        <p:txBody>
          <a:bodyPr wrap="square">
            <a:spAutoFit/>
          </a:bodyPr>
          <a:lstStyle/>
          <a:p>
            <a:r>
              <a:rPr lang="en-US" dirty="0">
                <a:latin typeface="+mj-lt"/>
              </a:rPr>
              <a:t>Best parameters found: {'</a:t>
            </a:r>
            <a:r>
              <a:rPr lang="en-US" dirty="0" err="1">
                <a:latin typeface="+mj-lt"/>
              </a:rPr>
              <a:t>n_neighbors</a:t>
            </a:r>
            <a:r>
              <a:rPr lang="en-US" dirty="0">
                <a:latin typeface="+mj-lt"/>
              </a:rPr>
              <a:t>': 12, 'p': 1} </a:t>
            </a:r>
          </a:p>
          <a:p>
            <a:endParaRPr lang="en-US" dirty="0">
              <a:latin typeface="+mj-lt"/>
            </a:endParaRPr>
          </a:p>
          <a:p>
            <a:r>
              <a:rPr lang="en-US" dirty="0">
                <a:latin typeface="+mj-lt"/>
              </a:rPr>
              <a:t>Best cross-validation accuracy score: 0.8644685335742247</a:t>
            </a:r>
            <a:endParaRPr lang="en-IN" dirty="0">
              <a:latin typeface="+mj-lt"/>
            </a:endParaRPr>
          </a:p>
        </p:txBody>
      </p:sp>
    </p:spTree>
    <p:extLst>
      <p:ext uri="{BB962C8B-B14F-4D97-AF65-F5344CB8AC3E}">
        <p14:creationId xmlns:p14="http://schemas.microsoft.com/office/powerpoint/2010/main" val="414089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CBD4-B533-24AF-07F9-26013DFD66A8}"/>
              </a:ext>
            </a:extLst>
          </p:cNvPr>
          <p:cNvSpPr>
            <a:spLocks noGrp="1"/>
          </p:cNvSpPr>
          <p:nvPr>
            <p:ph type="title"/>
          </p:nvPr>
        </p:nvSpPr>
        <p:spPr/>
        <p:txBody>
          <a:bodyPr/>
          <a:lstStyle/>
          <a:p>
            <a:r>
              <a:rPr lang="en-US" dirty="0"/>
              <a:t>Logistic Regression</a:t>
            </a:r>
            <a:endParaRPr lang="en-IN" dirty="0"/>
          </a:p>
        </p:txBody>
      </p:sp>
      <p:pic>
        <p:nvPicPr>
          <p:cNvPr id="5" name="Picture 4">
            <a:extLst>
              <a:ext uri="{FF2B5EF4-FFF2-40B4-BE49-F238E27FC236}">
                <a16:creationId xmlns:a16="http://schemas.microsoft.com/office/drawing/2014/main" id="{EC0A507E-E00B-EC19-38FC-91F56446B95D}"/>
              </a:ext>
            </a:extLst>
          </p:cNvPr>
          <p:cNvPicPr>
            <a:picLocks noChangeAspect="1"/>
          </p:cNvPicPr>
          <p:nvPr/>
        </p:nvPicPr>
        <p:blipFill>
          <a:blip r:embed="rId2"/>
          <a:stretch>
            <a:fillRect/>
          </a:stretch>
        </p:blipFill>
        <p:spPr>
          <a:xfrm>
            <a:off x="1387233" y="2895600"/>
            <a:ext cx="9417534" cy="3702240"/>
          </a:xfrm>
          <a:prstGeom prst="rect">
            <a:avLst/>
          </a:prstGeom>
        </p:spPr>
      </p:pic>
      <p:sp>
        <p:nvSpPr>
          <p:cNvPr id="7" name="TextBox 6">
            <a:extLst>
              <a:ext uri="{FF2B5EF4-FFF2-40B4-BE49-F238E27FC236}">
                <a16:creationId xmlns:a16="http://schemas.microsoft.com/office/drawing/2014/main" id="{671444E8-053D-E78B-2EF1-310AAA12BF45}"/>
              </a:ext>
            </a:extLst>
          </p:cNvPr>
          <p:cNvSpPr txBox="1"/>
          <p:nvPr/>
        </p:nvSpPr>
        <p:spPr>
          <a:xfrm>
            <a:off x="1752600" y="1709412"/>
            <a:ext cx="8001000" cy="923330"/>
          </a:xfrm>
          <a:prstGeom prst="rect">
            <a:avLst/>
          </a:prstGeom>
          <a:noFill/>
        </p:spPr>
        <p:txBody>
          <a:bodyPr wrap="square">
            <a:spAutoFit/>
          </a:bodyPr>
          <a:lstStyle/>
          <a:p>
            <a:r>
              <a:rPr lang="en-US" dirty="0">
                <a:latin typeface="+mj-lt"/>
              </a:rPr>
              <a:t>Best parameters found: {'C': 1, '</a:t>
            </a:r>
            <a:r>
              <a:rPr lang="en-US" dirty="0" err="1">
                <a:latin typeface="+mj-lt"/>
              </a:rPr>
              <a:t>max_iter</a:t>
            </a:r>
            <a:r>
              <a:rPr lang="en-US" dirty="0">
                <a:latin typeface="+mj-lt"/>
              </a:rPr>
              <a:t>': 100, 'penalty': 'l2’} </a:t>
            </a:r>
          </a:p>
          <a:p>
            <a:endParaRPr lang="en-US" dirty="0">
              <a:latin typeface="+mj-lt"/>
            </a:endParaRPr>
          </a:p>
          <a:p>
            <a:r>
              <a:rPr lang="en-US" dirty="0">
                <a:latin typeface="+mj-lt"/>
              </a:rPr>
              <a:t>Best cross-validation accuracy score: 0.8670280036133693</a:t>
            </a:r>
            <a:endParaRPr lang="en-IN" dirty="0">
              <a:latin typeface="+mj-lt"/>
            </a:endParaRPr>
          </a:p>
        </p:txBody>
      </p:sp>
    </p:spTree>
    <p:extLst>
      <p:ext uri="{BB962C8B-B14F-4D97-AF65-F5344CB8AC3E}">
        <p14:creationId xmlns:p14="http://schemas.microsoft.com/office/powerpoint/2010/main" val="146332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401C-519D-A198-B170-B5EA4AF8DA10}"/>
              </a:ext>
            </a:extLst>
          </p:cNvPr>
          <p:cNvSpPr>
            <a:spLocks noGrp="1"/>
          </p:cNvSpPr>
          <p:nvPr>
            <p:ph type="title"/>
          </p:nvPr>
        </p:nvSpPr>
        <p:spPr/>
        <p:txBody>
          <a:bodyPr/>
          <a:lstStyle/>
          <a:p>
            <a:r>
              <a:rPr lang="en-US" dirty="0"/>
              <a:t>Model Evaluation</a:t>
            </a:r>
            <a:endParaRPr lang="en-IN" dirty="0"/>
          </a:p>
        </p:txBody>
      </p:sp>
      <p:pic>
        <p:nvPicPr>
          <p:cNvPr id="7" name="Picture 6">
            <a:extLst>
              <a:ext uri="{FF2B5EF4-FFF2-40B4-BE49-F238E27FC236}">
                <a16:creationId xmlns:a16="http://schemas.microsoft.com/office/drawing/2014/main" id="{645BE9E4-0AD8-285C-BD81-5D06050BE35D}"/>
              </a:ext>
            </a:extLst>
          </p:cNvPr>
          <p:cNvPicPr>
            <a:picLocks noChangeAspect="1"/>
          </p:cNvPicPr>
          <p:nvPr/>
        </p:nvPicPr>
        <p:blipFill>
          <a:blip r:embed="rId2"/>
          <a:stretch>
            <a:fillRect/>
          </a:stretch>
        </p:blipFill>
        <p:spPr>
          <a:xfrm>
            <a:off x="7162800" y="1559365"/>
            <a:ext cx="3879920" cy="2526333"/>
          </a:xfrm>
          <a:prstGeom prst="rect">
            <a:avLst/>
          </a:prstGeom>
        </p:spPr>
      </p:pic>
      <p:pic>
        <p:nvPicPr>
          <p:cNvPr id="9" name="Picture 8">
            <a:extLst>
              <a:ext uri="{FF2B5EF4-FFF2-40B4-BE49-F238E27FC236}">
                <a16:creationId xmlns:a16="http://schemas.microsoft.com/office/drawing/2014/main" id="{408052FB-D036-C036-9B7D-C871C9F9F38C}"/>
              </a:ext>
            </a:extLst>
          </p:cNvPr>
          <p:cNvPicPr>
            <a:picLocks noChangeAspect="1"/>
          </p:cNvPicPr>
          <p:nvPr/>
        </p:nvPicPr>
        <p:blipFill>
          <a:blip r:embed="rId3"/>
          <a:stretch>
            <a:fillRect/>
          </a:stretch>
        </p:blipFill>
        <p:spPr>
          <a:xfrm>
            <a:off x="4343400" y="4220280"/>
            <a:ext cx="4043828" cy="2491370"/>
          </a:xfrm>
          <a:prstGeom prst="rect">
            <a:avLst/>
          </a:prstGeom>
        </p:spPr>
      </p:pic>
      <p:pic>
        <p:nvPicPr>
          <p:cNvPr id="13" name="Picture 12">
            <a:extLst>
              <a:ext uri="{FF2B5EF4-FFF2-40B4-BE49-F238E27FC236}">
                <a16:creationId xmlns:a16="http://schemas.microsoft.com/office/drawing/2014/main" id="{26E2810A-319E-8485-7AEF-BB3DD5215772}"/>
              </a:ext>
            </a:extLst>
          </p:cNvPr>
          <p:cNvPicPr>
            <a:picLocks noChangeAspect="1"/>
          </p:cNvPicPr>
          <p:nvPr/>
        </p:nvPicPr>
        <p:blipFill>
          <a:blip r:embed="rId4"/>
          <a:stretch>
            <a:fillRect/>
          </a:stretch>
        </p:blipFill>
        <p:spPr>
          <a:xfrm>
            <a:off x="1149280" y="1559365"/>
            <a:ext cx="3879919" cy="2526333"/>
          </a:xfrm>
          <a:prstGeom prst="rect">
            <a:avLst/>
          </a:prstGeom>
        </p:spPr>
      </p:pic>
      <p:sp>
        <p:nvSpPr>
          <p:cNvPr id="14" name="TextBox 13">
            <a:extLst>
              <a:ext uri="{FF2B5EF4-FFF2-40B4-BE49-F238E27FC236}">
                <a16:creationId xmlns:a16="http://schemas.microsoft.com/office/drawing/2014/main" id="{50C5E4BC-42CB-1A33-A045-C3C99F687408}"/>
              </a:ext>
            </a:extLst>
          </p:cNvPr>
          <p:cNvSpPr txBox="1"/>
          <p:nvPr/>
        </p:nvSpPr>
        <p:spPr>
          <a:xfrm>
            <a:off x="692080" y="1544526"/>
            <a:ext cx="457200" cy="369332"/>
          </a:xfrm>
          <a:prstGeom prst="rect">
            <a:avLst/>
          </a:prstGeom>
          <a:noFill/>
        </p:spPr>
        <p:txBody>
          <a:bodyPr wrap="square" rtlCol="0">
            <a:spAutoFit/>
          </a:bodyPr>
          <a:lstStyle/>
          <a:p>
            <a:r>
              <a:rPr lang="en-US" dirty="0">
                <a:solidFill>
                  <a:srgbClr val="FF0000"/>
                </a:solidFill>
              </a:rPr>
              <a:t>1</a:t>
            </a:r>
            <a:r>
              <a:rPr lang="en-US" dirty="0"/>
              <a:t>.</a:t>
            </a:r>
            <a:endParaRPr lang="en-IN" dirty="0"/>
          </a:p>
        </p:txBody>
      </p:sp>
      <p:sp>
        <p:nvSpPr>
          <p:cNvPr id="15" name="TextBox 14">
            <a:extLst>
              <a:ext uri="{FF2B5EF4-FFF2-40B4-BE49-F238E27FC236}">
                <a16:creationId xmlns:a16="http://schemas.microsoft.com/office/drawing/2014/main" id="{A8F4645E-F017-6E70-80BA-9EFE66C7AA27}"/>
              </a:ext>
            </a:extLst>
          </p:cNvPr>
          <p:cNvSpPr txBox="1"/>
          <p:nvPr/>
        </p:nvSpPr>
        <p:spPr>
          <a:xfrm>
            <a:off x="6629400" y="1585752"/>
            <a:ext cx="685800" cy="369332"/>
          </a:xfrm>
          <a:prstGeom prst="rect">
            <a:avLst/>
          </a:prstGeom>
          <a:noFill/>
        </p:spPr>
        <p:txBody>
          <a:bodyPr wrap="square" rtlCol="0">
            <a:spAutoFit/>
          </a:bodyPr>
          <a:lstStyle/>
          <a:p>
            <a:r>
              <a:rPr lang="en-US">
                <a:solidFill>
                  <a:srgbClr val="FF0000"/>
                </a:solidFill>
              </a:rPr>
              <a:t>2.</a:t>
            </a:r>
            <a:endParaRPr lang="en-IN" dirty="0">
              <a:solidFill>
                <a:srgbClr val="FF0000"/>
              </a:solidFill>
            </a:endParaRPr>
          </a:p>
        </p:txBody>
      </p:sp>
      <p:sp>
        <p:nvSpPr>
          <p:cNvPr id="16" name="TextBox 15">
            <a:extLst>
              <a:ext uri="{FF2B5EF4-FFF2-40B4-BE49-F238E27FC236}">
                <a16:creationId xmlns:a16="http://schemas.microsoft.com/office/drawing/2014/main" id="{BEDBB1F0-97F2-FBB4-0999-BE06F85973BD}"/>
              </a:ext>
            </a:extLst>
          </p:cNvPr>
          <p:cNvSpPr txBox="1"/>
          <p:nvPr/>
        </p:nvSpPr>
        <p:spPr>
          <a:xfrm>
            <a:off x="3810000" y="4220280"/>
            <a:ext cx="457200" cy="369332"/>
          </a:xfrm>
          <a:prstGeom prst="rect">
            <a:avLst/>
          </a:prstGeom>
          <a:noFill/>
        </p:spPr>
        <p:txBody>
          <a:bodyPr wrap="square" rtlCol="0">
            <a:spAutoFit/>
          </a:bodyPr>
          <a:lstStyle/>
          <a:p>
            <a:r>
              <a:rPr lang="en-US" dirty="0">
                <a:solidFill>
                  <a:srgbClr val="FF0000"/>
                </a:solidFill>
              </a:rPr>
              <a:t>3.</a:t>
            </a:r>
            <a:endParaRPr lang="en-IN" dirty="0">
              <a:solidFill>
                <a:srgbClr val="FF0000"/>
              </a:solidFill>
            </a:endParaRPr>
          </a:p>
        </p:txBody>
      </p:sp>
    </p:spTree>
    <p:extLst>
      <p:ext uri="{BB962C8B-B14F-4D97-AF65-F5344CB8AC3E}">
        <p14:creationId xmlns:p14="http://schemas.microsoft.com/office/powerpoint/2010/main" val="365400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968DEB-A396-D7B1-A4E0-7DDB6F178612}"/>
              </a:ext>
            </a:extLst>
          </p:cNvPr>
          <p:cNvPicPr>
            <a:picLocks noChangeAspect="1"/>
          </p:cNvPicPr>
          <p:nvPr/>
        </p:nvPicPr>
        <p:blipFill>
          <a:blip r:embed="rId2"/>
          <a:stretch>
            <a:fillRect/>
          </a:stretch>
        </p:blipFill>
        <p:spPr>
          <a:xfrm>
            <a:off x="1143000" y="1676400"/>
            <a:ext cx="4688410" cy="2804483"/>
          </a:xfrm>
          <a:prstGeom prst="rect">
            <a:avLst/>
          </a:prstGeom>
        </p:spPr>
      </p:pic>
      <p:pic>
        <p:nvPicPr>
          <p:cNvPr id="6" name="Picture 5">
            <a:extLst>
              <a:ext uri="{FF2B5EF4-FFF2-40B4-BE49-F238E27FC236}">
                <a16:creationId xmlns:a16="http://schemas.microsoft.com/office/drawing/2014/main" id="{0A2441ED-0B41-B15F-9F15-DA46AC5CC654}"/>
              </a:ext>
            </a:extLst>
          </p:cNvPr>
          <p:cNvPicPr>
            <a:picLocks noChangeAspect="1"/>
          </p:cNvPicPr>
          <p:nvPr/>
        </p:nvPicPr>
        <p:blipFill>
          <a:blip r:embed="rId3"/>
          <a:stretch>
            <a:fillRect/>
          </a:stretch>
        </p:blipFill>
        <p:spPr>
          <a:xfrm>
            <a:off x="6934200" y="3733800"/>
            <a:ext cx="4788603" cy="2925114"/>
          </a:xfrm>
          <a:prstGeom prst="rect">
            <a:avLst/>
          </a:prstGeom>
        </p:spPr>
      </p:pic>
      <p:sp>
        <p:nvSpPr>
          <p:cNvPr id="7" name="TextBox 6">
            <a:extLst>
              <a:ext uri="{FF2B5EF4-FFF2-40B4-BE49-F238E27FC236}">
                <a16:creationId xmlns:a16="http://schemas.microsoft.com/office/drawing/2014/main" id="{041BEE38-D74C-EE20-3E57-DB4BA0573FAD}"/>
              </a:ext>
            </a:extLst>
          </p:cNvPr>
          <p:cNvSpPr txBox="1"/>
          <p:nvPr/>
        </p:nvSpPr>
        <p:spPr>
          <a:xfrm>
            <a:off x="762000" y="1600200"/>
            <a:ext cx="521403" cy="369332"/>
          </a:xfrm>
          <a:prstGeom prst="rect">
            <a:avLst/>
          </a:prstGeom>
          <a:noFill/>
        </p:spPr>
        <p:txBody>
          <a:bodyPr wrap="square" rtlCol="0">
            <a:spAutoFit/>
          </a:bodyPr>
          <a:lstStyle/>
          <a:p>
            <a:r>
              <a:rPr lang="en-US" dirty="0">
                <a:solidFill>
                  <a:srgbClr val="FF0000"/>
                </a:solidFill>
              </a:rPr>
              <a:t>4.</a:t>
            </a:r>
            <a:endParaRPr lang="en-IN" dirty="0">
              <a:solidFill>
                <a:srgbClr val="FF0000"/>
              </a:solidFill>
            </a:endParaRPr>
          </a:p>
        </p:txBody>
      </p:sp>
      <p:sp>
        <p:nvSpPr>
          <p:cNvPr id="8" name="TextBox 7">
            <a:extLst>
              <a:ext uri="{FF2B5EF4-FFF2-40B4-BE49-F238E27FC236}">
                <a16:creationId xmlns:a16="http://schemas.microsoft.com/office/drawing/2014/main" id="{BEC160DF-1B94-4816-0CDA-2196F3F28824}"/>
              </a:ext>
            </a:extLst>
          </p:cNvPr>
          <p:cNvSpPr txBox="1"/>
          <p:nvPr/>
        </p:nvSpPr>
        <p:spPr>
          <a:xfrm>
            <a:off x="6515100" y="3733800"/>
            <a:ext cx="533400" cy="381000"/>
          </a:xfrm>
          <a:prstGeom prst="rect">
            <a:avLst/>
          </a:prstGeom>
          <a:noFill/>
        </p:spPr>
        <p:txBody>
          <a:bodyPr wrap="square" rtlCol="0">
            <a:spAutoFit/>
          </a:bodyPr>
          <a:lstStyle/>
          <a:p>
            <a:r>
              <a:rPr lang="en-US" dirty="0">
                <a:solidFill>
                  <a:srgbClr val="FF0000"/>
                </a:solidFill>
              </a:rPr>
              <a:t>5.</a:t>
            </a:r>
            <a:endParaRPr lang="en-IN" dirty="0">
              <a:solidFill>
                <a:srgbClr val="FF0000"/>
              </a:solidFill>
            </a:endParaRPr>
          </a:p>
        </p:txBody>
      </p:sp>
    </p:spTree>
    <p:extLst>
      <p:ext uri="{BB962C8B-B14F-4D97-AF65-F5344CB8AC3E}">
        <p14:creationId xmlns:p14="http://schemas.microsoft.com/office/powerpoint/2010/main" val="339581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7095-7FA1-1278-F8D5-6B1869778F5E}"/>
              </a:ext>
            </a:extLst>
          </p:cNvPr>
          <p:cNvSpPr>
            <a:spLocks noGrp="1"/>
          </p:cNvSpPr>
          <p:nvPr>
            <p:ph type="title"/>
          </p:nvPr>
        </p:nvSpPr>
        <p:spPr/>
        <p:txBody>
          <a:bodyPr/>
          <a:lstStyle/>
          <a:p>
            <a:r>
              <a:rPr lang="en-US" dirty="0"/>
              <a:t>ROC Curve for all Models</a:t>
            </a:r>
            <a:endParaRPr lang="en-IN" dirty="0"/>
          </a:p>
        </p:txBody>
      </p:sp>
      <p:pic>
        <p:nvPicPr>
          <p:cNvPr id="5" name="Picture 4">
            <a:extLst>
              <a:ext uri="{FF2B5EF4-FFF2-40B4-BE49-F238E27FC236}">
                <a16:creationId xmlns:a16="http://schemas.microsoft.com/office/drawing/2014/main" id="{9C796C38-7767-A1BF-03D2-B7E3AC901523}"/>
              </a:ext>
            </a:extLst>
          </p:cNvPr>
          <p:cNvPicPr>
            <a:picLocks noChangeAspect="1"/>
          </p:cNvPicPr>
          <p:nvPr/>
        </p:nvPicPr>
        <p:blipFill>
          <a:blip r:embed="rId2"/>
          <a:stretch>
            <a:fillRect/>
          </a:stretch>
        </p:blipFill>
        <p:spPr>
          <a:xfrm>
            <a:off x="2362200" y="1551460"/>
            <a:ext cx="6629400" cy="5207320"/>
          </a:xfrm>
          <a:prstGeom prst="rect">
            <a:avLst/>
          </a:prstGeom>
        </p:spPr>
      </p:pic>
    </p:spTree>
    <p:extLst>
      <p:ext uri="{BB962C8B-B14F-4D97-AF65-F5344CB8AC3E}">
        <p14:creationId xmlns:p14="http://schemas.microsoft.com/office/powerpoint/2010/main" val="1718520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4242" y="2552699"/>
            <a:ext cx="3932237" cy="1752600"/>
          </a:xfrm>
        </p:spPr>
        <p:txBody>
          <a:bodyPr/>
          <a:lstStyle/>
          <a:p>
            <a:r>
              <a:rPr lang="en-US" dirty="0"/>
              <a:t>Project By:</a:t>
            </a:r>
          </a:p>
        </p:txBody>
      </p:sp>
      <p:pic>
        <p:nvPicPr>
          <p:cNvPr id="6" name="Picture Placeholder 5">
            <a:extLst>
              <a:ext uri="{FF2B5EF4-FFF2-40B4-BE49-F238E27FC236}">
                <a16:creationId xmlns:a16="http://schemas.microsoft.com/office/drawing/2014/main" id="{56E2037B-19E7-B2B8-D7DB-2F4F7D8A2CA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3839" r="13839"/>
          <a:stretch>
            <a:fillRect/>
          </a:stretch>
        </p:blipFill>
        <p:spPr/>
      </p:pic>
      <p:sp>
        <p:nvSpPr>
          <p:cNvPr id="4" name="Text Placeholder 3"/>
          <p:cNvSpPr>
            <a:spLocks noGrp="1"/>
          </p:cNvSpPr>
          <p:nvPr>
            <p:ph type="body" sz="half" idx="2"/>
          </p:nvPr>
        </p:nvSpPr>
        <p:spPr>
          <a:xfrm>
            <a:off x="7624242" y="4495800"/>
            <a:ext cx="3932237" cy="1905000"/>
          </a:xfrm>
        </p:spPr>
        <p:txBody>
          <a:bodyPr>
            <a:noAutofit/>
          </a:bodyPr>
          <a:lstStyle/>
          <a:p>
            <a:pPr algn="r"/>
            <a:r>
              <a:rPr lang="en-US" sz="1800" dirty="0"/>
              <a:t>Adam Irfan</a:t>
            </a:r>
          </a:p>
          <a:p>
            <a:pPr algn="r"/>
            <a:r>
              <a:rPr lang="en-US" sz="1800" dirty="0"/>
              <a:t>Neela</a:t>
            </a:r>
          </a:p>
          <a:p>
            <a:pPr algn="r"/>
            <a:r>
              <a:rPr lang="en-US" sz="1800" dirty="0"/>
              <a:t>Piyush</a:t>
            </a:r>
          </a:p>
          <a:p>
            <a:pPr algn="r"/>
            <a:r>
              <a:rPr lang="en-US" sz="1800" dirty="0" err="1"/>
              <a:t>Sathvika</a:t>
            </a:r>
            <a:endParaRPr lang="en-US" sz="1800" dirty="0"/>
          </a:p>
        </p:txBody>
      </p:sp>
    </p:spTree>
    <p:extLst>
      <p:ext uri="{BB962C8B-B14F-4D97-AF65-F5344CB8AC3E}">
        <p14:creationId xmlns:p14="http://schemas.microsoft.com/office/powerpoint/2010/main" val="30492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326</TotalTime>
  <Words>1774</Words>
  <Application>Microsoft Office PowerPoint</Application>
  <PresentationFormat>Widescreen</PresentationFormat>
  <Paragraphs>91</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Franklin Gothic Medium</vt:lpstr>
      <vt:lpstr>Roboto</vt:lpstr>
      <vt:lpstr>Medical Design 16x9</vt:lpstr>
      <vt:lpstr>Heart Disease Prediction System</vt:lpstr>
      <vt:lpstr>Literature Review: Heart Disease Prediction System using Machine Learning</vt:lpstr>
      <vt:lpstr>Phase 1:  Data Preprocessing, Exploration &amp; Visualization  Phase 2:  Implementing Machine Learning on the processed Data</vt:lpstr>
      <vt:lpstr>Introduction</vt:lpstr>
      <vt:lpstr>Reading the dataset and displaying the top 10 rows</vt:lpstr>
      <vt:lpstr>Goals and Objectives</vt:lpstr>
      <vt:lpstr>Data Cleaning and Preprocessing</vt:lpstr>
      <vt:lpstr>PowerPoint Presentation</vt:lpstr>
      <vt:lpstr>Data Exploration &amp; Visualization With our dataset now deemed clean, we're prepared to commence visualizing and exploring each of its features.</vt:lpstr>
      <vt:lpstr>Histrogram of Age</vt:lpstr>
      <vt:lpstr>Two-Variable Visualization Regression plot between Cholesterol and Age</vt:lpstr>
      <vt:lpstr>Box plot of Cholesterol by Sex</vt:lpstr>
      <vt:lpstr>Bar chart for Pain type by Sex</vt:lpstr>
      <vt:lpstr>Scatter plot with histrogram for Age and Max Heart Rate</vt:lpstr>
      <vt:lpstr>Scatter Plot of Age, Cholesterol and Sex</vt:lpstr>
      <vt:lpstr>PowerPoint Presentation</vt:lpstr>
      <vt:lpstr>Outlier Removal</vt:lpstr>
      <vt:lpstr>Predictive Modelling</vt:lpstr>
      <vt:lpstr>Target Variable Encoding</vt:lpstr>
      <vt:lpstr>Splitting Data in Train and Test  </vt:lpstr>
      <vt:lpstr>Feature Scaling</vt:lpstr>
      <vt:lpstr>Feature Selection</vt:lpstr>
      <vt:lpstr>Model 1 – Support vector Machine</vt:lpstr>
      <vt:lpstr>Gradient Boosting Classifier</vt:lpstr>
      <vt:lpstr>Random Forest Classifier</vt:lpstr>
      <vt:lpstr>KNN Classifier</vt:lpstr>
      <vt:lpstr>Logistic Regression</vt:lpstr>
      <vt:lpstr>Model Evaluation</vt:lpstr>
      <vt:lpstr>PowerPoint Presentation</vt:lpstr>
      <vt:lpstr>ROC Curve for all Models</vt:lpstr>
      <vt:lpstr>Project By: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Irfan</dc:creator>
  <cp:lastModifiedBy>Bhuvaneswari Neela</cp:lastModifiedBy>
  <cp:revision>6</cp:revision>
  <dcterms:created xsi:type="dcterms:W3CDTF">2024-11-06T16:12:28Z</dcterms:created>
  <dcterms:modified xsi:type="dcterms:W3CDTF">2026-06-10T20:24:52Z</dcterms:modified>
</cp:coreProperties>
</file>